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5"/>
  </p:notesMasterIdLst>
  <p:sldIdLst>
    <p:sldId id="256" r:id="rId2"/>
    <p:sldId id="257" r:id="rId3"/>
    <p:sldId id="258" r:id="rId4"/>
    <p:sldId id="260" r:id="rId5"/>
    <p:sldId id="302" r:id="rId6"/>
    <p:sldId id="282" r:id="rId7"/>
    <p:sldId id="262" r:id="rId8"/>
    <p:sldId id="270" r:id="rId9"/>
    <p:sldId id="289" r:id="rId10"/>
    <p:sldId id="290" r:id="rId11"/>
    <p:sldId id="303" r:id="rId12"/>
    <p:sldId id="304" r:id="rId13"/>
    <p:sldId id="300" r:id="rId14"/>
    <p:sldId id="295" r:id="rId15"/>
    <p:sldId id="296" r:id="rId16"/>
    <p:sldId id="297" r:id="rId17"/>
    <p:sldId id="298" r:id="rId18"/>
    <p:sldId id="299" r:id="rId19"/>
    <p:sldId id="301" r:id="rId20"/>
    <p:sldId id="294" r:id="rId21"/>
    <p:sldId id="285" r:id="rId22"/>
    <p:sldId id="281" r:id="rId23"/>
    <p:sldId id="259" r:id="rId24"/>
  </p:sldIdLst>
  <p:sldSz cx="12192000" cy="6858000"/>
  <p:notesSz cx="6858000" cy="9144000"/>
  <p:embeddedFontLst>
    <p:embeddedFont>
      <p:font typeface="Lato Black" panose="020F0502020204030203" pitchFamily="34" charset="0"/>
      <p:bold r:id="rId26"/>
      <p:boldItalic r:id="rId27"/>
    </p:embeddedFont>
    <p:embeddedFont>
      <p:font typeface="Libre Baskerville" panose="02000000000000000000" pitchFamily="2" charset="0"/>
      <p:regular r:id="rId28"/>
      <p:bold r:id="rId29"/>
      <p:italic r:id="rId30"/>
      <p:boldItalic r:id="rId3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4" roundtripDataSignature="AMtx7mi4HmEECUlll0m8HTY06QsqsmZGG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974" autoAdjust="0"/>
    <p:restoredTop sz="94660"/>
  </p:normalViewPr>
  <p:slideViewPr>
    <p:cSldViewPr snapToGrid="0">
      <p:cViewPr varScale="1">
        <p:scale>
          <a:sx n="81" d="100"/>
          <a:sy n="81" d="100"/>
        </p:scale>
        <p:origin x="523"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slide" Target="slides/slide20.xml"/><Relationship Id="rId34"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smtClean="0">
                <a:solidFill>
                  <a:schemeClr val="dk1"/>
                </a:solidFill>
                <a:latin typeface="Calibri"/>
                <a:ea typeface="Calibri"/>
                <a:cs typeface="Calibri"/>
                <a:sym typeface="Calibri"/>
              </a:rPr>
              <a:t>19</a:t>
            </a:fld>
            <a:endParaRPr lang="en-IN"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2830445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0" name="Google Shape;20;p7"/>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1"/>
        <p:cNvGrpSpPr/>
        <p:nvPr/>
      </p:nvGrpSpPr>
      <p:grpSpPr>
        <a:xfrm>
          <a:off x="0" y="0"/>
          <a:ext cx="0" cy="0"/>
          <a:chOff x="0" y="0"/>
          <a:chExt cx="0" cy="0"/>
        </a:xfrm>
      </p:grpSpPr>
      <p:sp>
        <p:nvSpPr>
          <p:cNvPr id="22" name="Google Shape;2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5" name="Google Shape;25;p9"/>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6"/>
        <p:cNvGrpSpPr/>
        <p:nvPr/>
      </p:nvGrpSpPr>
      <p:grpSpPr>
        <a:xfrm>
          <a:off x="0" y="0"/>
          <a:ext cx="0" cy="0"/>
          <a:chOff x="0" y="0"/>
          <a:chExt cx="0" cy="0"/>
        </a:xfrm>
      </p:grpSpPr>
      <p:sp>
        <p:nvSpPr>
          <p:cNvPr id="27" name="Google Shape;27;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2" name="Google Shape;32;p10"/>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3"/>
        <p:cNvGrpSpPr/>
        <p:nvPr/>
      </p:nvGrpSpPr>
      <p:grpSpPr>
        <a:xfrm>
          <a:off x="0" y="0"/>
          <a:ext cx="0" cy="0"/>
          <a:chOff x="0" y="0"/>
          <a:chExt cx="0" cy="0"/>
        </a:xfrm>
      </p:grpSpPr>
      <p:sp>
        <p:nvSpPr>
          <p:cNvPr id="34" name="Google Shape;34;p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6" name="Google Shape;36;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9" name="Google Shape;39;p8"/>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46" name="Google Shape;46;p11"/>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7"/>
        <p:cNvGrpSpPr/>
        <p:nvPr/>
      </p:nvGrpSpPr>
      <p:grpSpPr>
        <a:xfrm>
          <a:off x="0" y="0"/>
          <a:ext cx="0" cy="0"/>
          <a:chOff x="0" y="0"/>
          <a:chExt cx="0" cy="0"/>
        </a:xfrm>
      </p:grpSpPr>
      <p:sp>
        <p:nvSpPr>
          <p:cNvPr id="48" name="Google Shape;4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1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54" name="Google Shape;54;p12"/>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8" name="Google Shape;58;p1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1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0" name="Google Shape;60;p1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64" name="Google Shape;64;p13"/>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72" name="Google Shape;72;p14"/>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15"/>
          <p:cNvSpPr>
            <a:spLocks noGrp="1"/>
          </p:cNvSpPr>
          <p:nvPr>
            <p:ph type="pic" idx="2"/>
          </p:nvPr>
        </p:nvSpPr>
        <p:spPr>
          <a:xfrm>
            <a:off x="5183188" y="987425"/>
            <a:ext cx="6172200" cy="4873625"/>
          </a:xfrm>
          <a:prstGeom prst="rect">
            <a:avLst/>
          </a:prstGeom>
          <a:noFill/>
          <a:ln>
            <a:noFill/>
          </a:ln>
        </p:spPr>
      </p:sp>
      <p:sp>
        <p:nvSpPr>
          <p:cNvPr id="76" name="Google Shape;76;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0" name="Google Shape;80;p15"/>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7" name="Google Shape;87;p16"/>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localhost:8888/notebooks/batch546/webscraping/Untitled1.ipynb#Company-vs-Stipend"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a:stretch/>
        </p:blipFill>
        <p:spPr>
          <a:xfrm>
            <a:off x="-178518" y="-1"/>
            <a:ext cx="12190815" cy="6787299"/>
          </a:xfrm>
          <a:prstGeom prst="rect">
            <a:avLst/>
          </a:prstGeom>
          <a:noFill/>
          <a:ln>
            <a:noFill/>
          </a:ln>
        </p:spPr>
      </p:pic>
      <p:sp>
        <p:nvSpPr>
          <p:cNvPr id="99" name="Google Shape;99;p1"/>
          <p:cNvSpPr txBox="1"/>
          <p:nvPr/>
        </p:nvSpPr>
        <p:spPr>
          <a:xfrm>
            <a:off x="2472905" y="3633320"/>
            <a:ext cx="7246189" cy="1077178"/>
          </a:xfrm>
          <a:prstGeom prst="rect">
            <a:avLst/>
          </a:prstGeom>
          <a:noFill/>
          <a:ln>
            <a:noFill/>
          </a:ln>
        </p:spPr>
        <p:txBody>
          <a:bodyPr spcFirstLastPara="1" wrap="square" lIns="91425" tIns="45700" rIns="91425" bIns="45700" anchor="t" anchorCtr="0">
            <a:spAutoFit/>
          </a:bodyPr>
          <a:lstStyle/>
          <a:p>
            <a:pPr lvl="0" algn="ctr">
              <a:buSzPts val="1800"/>
            </a:pPr>
            <a:r>
              <a:rPr lang="en-IN" sz="3200" dirty="0"/>
              <a:t> </a:t>
            </a:r>
            <a:r>
              <a:rPr lang="en-IN" sz="3200" b="1" dirty="0"/>
              <a:t>Internship Market Analysis </a:t>
            </a:r>
          </a:p>
          <a:p>
            <a:pPr lvl="0" algn="ctr">
              <a:buSzPts val="1800"/>
            </a:pPr>
            <a:r>
              <a:rPr lang="en-IN" sz="3200" dirty="0"/>
              <a:t> </a:t>
            </a:r>
            <a:r>
              <a:rPr lang="en-IN" sz="3200" b="1"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U</a:t>
            </a:r>
            <a:r>
              <a:rPr lang="en-IN" sz="3200" b="1" dirty="0">
                <a:solidFill>
                  <a:schemeClr val="dk1"/>
                </a:solidFill>
                <a:latin typeface="Times New Roman" panose="02020603050405020304" pitchFamily="18" charset="0"/>
                <a:ea typeface="Calibri"/>
                <a:cs typeface="Times New Roman" panose="02020603050405020304" pitchFamily="18" charset="0"/>
                <a:sym typeface="Calibri"/>
              </a:rPr>
              <a:t>SING  </a:t>
            </a:r>
            <a:r>
              <a:rPr lang="en-IN" sz="3200" b="1" dirty="0">
                <a:solidFill>
                  <a:schemeClr val="accent1"/>
                </a:solidFill>
                <a:latin typeface="Times New Roman" panose="02020603050405020304" pitchFamily="18" charset="0"/>
                <a:ea typeface="Calibri"/>
                <a:cs typeface="Times New Roman" panose="02020603050405020304" pitchFamily="18" charset="0"/>
                <a:sym typeface="Calibri"/>
              </a:rPr>
              <a:t>Web Scraping &amp; EDA</a:t>
            </a:r>
            <a:endParaRPr sz="3200" b="1" i="0" u="none" strike="noStrike" cap="none" dirty="0">
              <a:solidFill>
                <a:schemeClr val="accent1"/>
              </a:solidFill>
              <a:latin typeface="Times New Roman" panose="02020603050405020304" pitchFamily="18" charset="0"/>
              <a:cs typeface="Times New Roman" panose="02020603050405020304" pitchFamily="18" charset="0"/>
              <a:sym typeface="Arial"/>
            </a:endParaRPr>
          </a:p>
        </p:txBody>
      </p:sp>
      <p:sp>
        <p:nvSpPr>
          <p:cNvPr id="3" name="TextBox 2">
            <a:extLst>
              <a:ext uri="{FF2B5EF4-FFF2-40B4-BE49-F238E27FC236}">
                <a16:creationId xmlns:a16="http://schemas.microsoft.com/office/drawing/2014/main" id="{4E6BB1E1-D7A3-CC3F-6BAE-D6EB13337E2F}"/>
              </a:ext>
            </a:extLst>
          </p:cNvPr>
          <p:cNvSpPr txBox="1"/>
          <p:nvPr/>
        </p:nvSpPr>
        <p:spPr>
          <a:xfrm>
            <a:off x="8625526" y="5263577"/>
            <a:ext cx="2903456" cy="830997"/>
          </a:xfrm>
          <a:prstGeom prst="rect">
            <a:avLst/>
          </a:prstGeom>
          <a:noFill/>
        </p:spPr>
        <p:txBody>
          <a:bodyPr wrap="square" rtlCol="0">
            <a:spAutoFit/>
          </a:bodyPr>
          <a:lstStyle/>
          <a:p>
            <a:r>
              <a:rPr lang="en-US" sz="1600" b="1" dirty="0">
                <a:solidFill>
                  <a:srgbClr val="FF0000"/>
                </a:solidFill>
                <a:latin typeface="Times New Roman" panose="02020603050405020304" pitchFamily="18" charset="0"/>
                <a:cs typeface="Times New Roman" panose="02020603050405020304" pitchFamily="18" charset="0"/>
              </a:rPr>
              <a:t>Presented By </a:t>
            </a:r>
            <a:r>
              <a:rPr lang="en-US" b="1" dirty="0">
                <a:solidFill>
                  <a:srgbClr val="FF0000"/>
                </a:solidFill>
              </a:rPr>
              <a:t>:</a:t>
            </a:r>
            <a:r>
              <a:rPr lang="en-US" dirty="0">
                <a:solidFill>
                  <a:srgbClr val="FF0000"/>
                </a:solidFill>
              </a:rPr>
              <a:t> </a:t>
            </a:r>
            <a:r>
              <a:rPr lang="en-US" dirty="0">
                <a:solidFill>
                  <a:schemeClr val="tx1"/>
                </a:solidFill>
              </a:rPr>
              <a:t>Pavani Jambuluri    </a:t>
            </a:r>
            <a:r>
              <a:rPr lang="en-US" sz="1600" b="1" dirty="0">
                <a:solidFill>
                  <a:srgbClr val="FF0000"/>
                </a:solidFill>
                <a:latin typeface="Times New Roman" panose="02020603050405020304" pitchFamily="18" charset="0"/>
                <a:cs typeface="Times New Roman" panose="02020603050405020304" pitchFamily="18" charset="0"/>
              </a:rPr>
              <a:t>Batch No :  </a:t>
            </a:r>
            <a:r>
              <a:rPr lang="en-US" sz="1600" dirty="0">
                <a:solidFill>
                  <a:schemeClr val="tx1"/>
                </a:solidFill>
                <a:latin typeface="Times New Roman" panose="02020603050405020304" pitchFamily="18" charset="0"/>
                <a:cs typeface="Times New Roman" panose="02020603050405020304" pitchFamily="18" charset="0"/>
              </a:rPr>
              <a:t>546 </a:t>
            </a:r>
          </a:p>
          <a:p>
            <a:r>
              <a:rPr lang="en-US" sz="1600" b="1" dirty="0">
                <a:solidFill>
                  <a:srgbClr val="FF0000"/>
                </a:solidFill>
                <a:latin typeface="Times New Roman" panose="02020603050405020304" pitchFamily="18" charset="0"/>
                <a:cs typeface="Times New Roman" panose="02020603050405020304" pitchFamily="18" charset="0"/>
              </a:rPr>
              <a:t>Branch :  </a:t>
            </a:r>
            <a:r>
              <a:rPr lang="en-US" sz="1600" dirty="0" err="1">
                <a:solidFill>
                  <a:schemeClr val="tx1"/>
                </a:solidFill>
                <a:latin typeface="Times New Roman" panose="02020603050405020304" pitchFamily="18" charset="0"/>
                <a:cs typeface="Times New Roman" panose="02020603050405020304" pitchFamily="18" charset="0"/>
              </a:rPr>
              <a:t>Dilsuknagar</a:t>
            </a:r>
            <a:endParaRPr lang="en-IN" sz="16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3"/>
          <p:cNvSpPr txBox="1"/>
          <p:nvPr/>
        </p:nvSpPr>
        <p:spPr>
          <a:xfrm>
            <a:off x="584462" y="1385741"/>
            <a:ext cx="11010508" cy="4154943"/>
          </a:xfrm>
          <a:prstGeom prst="rect">
            <a:avLst/>
          </a:prstGeom>
          <a:noFill/>
          <a:ln>
            <a:noFill/>
          </a:ln>
        </p:spPr>
        <p:txBody>
          <a:bodyPr spcFirstLastPara="1" wrap="square" lIns="91425" tIns="45700" rIns="91425" bIns="45700" anchor="t" anchorCtr="0">
            <a:spAutoFit/>
          </a:bodyPr>
          <a:lstStyle/>
          <a:p>
            <a:pPr marL="342900" indent="-342900" algn="just">
              <a:buClr>
                <a:schemeClr val="dk1"/>
              </a:buClr>
              <a:buSzPts val="24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 have completed my </a:t>
            </a:r>
            <a:r>
              <a:rPr lang="en-IN" sz="2400" dirty="0" err="1">
                <a:latin typeface="Times New Roman" panose="02020603050405020304" pitchFamily="18" charset="0"/>
                <a:cs typeface="Times New Roman" panose="02020603050405020304" pitchFamily="18" charset="0"/>
              </a:rPr>
              <a:t>B.Tech</a:t>
            </a:r>
            <a:r>
              <a:rPr lang="en-IN" sz="2400" dirty="0">
                <a:latin typeface="Times New Roman" panose="02020603050405020304" pitchFamily="18" charset="0"/>
                <a:cs typeface="Times New Roman" panose="02020603050405020304" pitchFamily="18" charset="0"/>
              </a:rPr>
              <a:t> in Electrical and  Electronics Engineering (EEE) from </a:t>
            </a:r>
            <a:r>
              <a:rPr lang="en-IN" sz="2400" dirty="0" err="1">
                <a:latin typeface="Times New Roman" panose="02020603050405020304" pitchFamily="18" charset="0"/>
                <a:cs typeface="Times New Roman" panose="02020603050405020304" pitchFamily="18" charset="0"/>
              </a:rPr>
              <a:t>Annamacharya</a:t>
            </a:r>
            <a:r>
              <a:rPr lang="en-IN" sz="2400" dirty="0">
                <a:latin typeface="Times New Roman" panose="02020603050405020304" pitchFamily="18" charset="0"/>
                <a:cs typeface="Times New Roman" panose="02020603050405020304" pitchFamily="18" charset="0"/>
              </a:rPr>
              <a:t> University.</a:t>
            </a:r>
          </a:p>
          <a:p>
            <a:pPr algn="just">
              <a:buClr>
                <a:schemeClr val="dk1"/>
              </a:buClr>
              <a:buSzPts val="2400"/>
            </a:pPr>
            <a:endParaRPr lang="en-IN" sz="2400" dirty="0">
              <a:latin typeface="Times New Roman" panose="02020603050405020304" pitchFamily="18" charset="0"/>
              <a:cs typeface="Times New Roman" panose="02020603050405020304" pitchFamily="18" charset="0"/>
            </a:endParaRPr>
          </a:p>
          <a:p>
            <a:pPr marL="285750" indent="-323850" algn="just">
              <a:buClr>
                <a:schemeClr val="dk1"/>
              </a:buClr>
              <a:buSzPts val="2400"/>
              <a:buFont typeface="Arial"/>
              <a:buChar char="•"/>
            </a:pPr>
            <a:r>
              <a:rPr lang="en-IN" sz="2400" dirty="0">
                <a:latin typeface="Times New Roman" panose="02020603050405020304" pitchFamily="18" charset="0"/>
                <a:cs typeface="Times New Roman" panose="02020603050405020304" pitchFamily="18" charset="0"/>
              </a:rPr>
              <a:t>I am interested in  exploring data and how can we understand  what is happening and how it can be used to solve real-world problems, this motivated me to develop my skills in Data Analytics and to build a career in the IT industry. </a:t>
            </a:r>
          </a:p>
          <a:p>
            <a:pPr algn="just">
              <a:buClr>
                <a:schemeClr val="dk1"/>
              </a:buClr>
              <a:buSzPts val="2400"/>
            </a:pPr>
            <a:endParaRPr lang="en-IN" sz="2400" dirty="0"/>
          </a:p>
          <a:p>
            <a:pPr marL="285750" indent="-323850" algn="just">
              <a:buClr>
                <a:schemeClr val="dk1"/>
              </a:buClr>
              <a:buSzPts val="2400"/>
              <a:buFont typeface="Arial"/>
              <a:buChar char="•"/>
            </a:pPr>
            <a:r>
              <a:rPr lang="en-IN" sz="2400" dirty="0">
                <a:latin typeface="Times New Roman" panose="02020603050405020304" pitchFamily="18" charset="0"/>
                <a:cs typeface="Times New Roman" panose="02020603050405020304" pitchFamily="18" charset="0"/>
              </a:rPr>
              <a:t>You can connect with me through my LinkedIn and GitHub profiles :</a:t>
            </a:r>
          </a:p>
          <a:p>
            <a:pPr lvl="0" algn="just">
              <a:buClr>
                <a:schemeClr val="dk1"/>
              </a:buClr>
              <a:buSzPts val="2400"/>
            </a:pPr>
            <a:r>
              <a:rPr lang="en-IN" sz="2400" b="1" dirty="0">
                <a:latin typeface="Times New Roman" panose="02020603050405020304" pitchFamily="18" charset="0"/>
                <a:cs typeface="Times New Roman" panose="02020603050405020304" pitchFamily="18" charset="0"/>
              </a:rPr>
              <a:t>    </a:t>
            </a:r>
            <a:r>
              <a:rPr lang="en-IN" sz="2400" b="1" dirty="0">
                <a:solidFill>
                  <a:schemeClr val="tx1"/>
                </a:solidFill>
                <a:latin typeface="Times New Roman" panose="02020603050405020304" pitchFamily="18" charset="0"/>
                <a:cs typeface="Times New Roman" panose="02020603050405020304" pitchFamily="18" charset="0"/>
              </a:rPr>
              <a:t>LinkedIn : </a:t>
            </a:r>
            <a:r>
              <a:rPr lang="en-IN" sz="2400" dirty="0">
                <a:latin typeface="Times New Roman" panose="02020603050405020304" pitchFamily="18" charset="0"/>
                <a:cs typeface="Times New Roman" panose="02020603050405020304" pitchFamily="18" charset="0"/>
              </a:rPr>
              <a:t>https://www.linkedin.com/in/pavani-jambuluri-9617b5320</a:t>
            </a:r>
          </a:p>
          <a:p>
            <a:pPr lvl="0" algn="just">
              <a:buClr>
                <a:schemeClr val="dk1"/>
              </a:buClr>
              <a:buSzPts val="2400"/>
            </a:pPr>
            <a:r>
              <a:rPr lang="en-IN" sz="2400" b="1" dirty="0">
                <a:latin typeface="Times New Roman" panose="02020603050405020304" pitchFamily="18" charset="0"/>
                <a:cs typeface="Times New Roman" panose="02020603050405020304" pitchFamily="18" charset="0"/>
              </a:rPr>
              <a:t>    GitHub : </a:t>
            </a:r>
            <a:r>
              <a:rPr lang="en-IN" sz="2400" dirty="0">
                <a:latin typeface="Times New Roman" panose="02020603050405020304" pitchFamily="18" charset="0"/>
                <a:cs typeface="Times New Roman" panose="02020603050405020304" pitchFamily="18" charset="0"/>
              </a:rPr>
              <a:t>https://github.com/Pavani-7036</a:t>
            </a:r>
          </a:p>
          <a:p>
            <a:pPr lvl="0">
              <a:buClr>
                <a:schemeClr val="dk1"/>
              </a:buClr>
              <a:buSzPts val="2400"/>
            </a:pPr>
            <a:endParaRPr sz="2400" b="1" i="0" u="none" strike="noStrike" cap="none" dirty="0">
              <a:solidFill>
                <a:schemeClr val="dk1"/>
              </a:solidFill>
              <a:latin typeface="Calibri"/>
              <a:ea typeface="Calibri"/>
              <a:cs typeface="Calibri"/>
              <a:sym typeface="Calibri"/>
            </a:endParaRPr>
          </a:p>
        </p:txBody>
      </p:sp>
      <p:sp>
        <p:nvSpPr>
          <p:cNvPr id="105" name="Google Shape;105;p3"/>
          <p:cNvSpPr txBox="1"/>
          <p:nvPr/>
        </p:nvSpPr>
        <p:spPr>
          <a:xfrm>
            <a:off x="493643" y="520249"/>
            <a:ext cx="6099600" cy="510869"/>
          </a:xfrm>
          <a:prstGeom prst="rect">
            <a:avLst/>
          </a:prstGeom>
          <a:noFill/>
          <a:ln>
            <a:noFill/>
          </a:ln>
        </p:spPr>
        <p:txBody>
          <a:bodyPr spcFirstLastPara="1" wrap="square" lIns="91425" tIns="45700" rIns="91425" bIns="45700" anchor="t" anchorCtr="0">
            <a:spAutoFit/>
          </a:bodyPr>
          <a:lstStyle/>
          <a:p>
            <a:pPr marL="0" marR="0" lvl="0" indent="0" algn="l" rtl="0">
              <a:lnSpc>
                <a:spcPct val="80000"/>
              </a:lnSpc>
              <a:spcBef>
                <a:spcPts val="0"/>
              </a:spcBef>
              <a:spcAft>
                <a:spcPts val="0"/>
              </a:spcAft>
              <a:buClr>
                <a:srgbClr val="FF0000"/>
              </a:buClr>
              <a:buSzPts val="3200"/>
              <a:buFont typeface="Lato Black"/>
              <a:buNone/>
            </a:pPr>
            <a:r>
              <a:rPr lang="en-IN" sz="3200" b="0" i="0" u="none" strike="noStrike" cap="none" dirty="0">
                <a:solidFill>
                  <a:srgbClr val="FF0000"/>
                </a:solidFill>
                <a:latin typeface="Lato Black"/>
                <a:ea typeface="Lato Black"/>
                <a:cs typeface="Lato Black"/>
                <a:sym typeface="Lato Black"/>
              </a:rPr>
              <a:t>  </a:t>
            </a:r>
            <a:r>
              <a:rPr lang="en-IN" sz="3400" b="1" i="0" u="none" strike="noStrike" cap="none" dirty="0">
                <a:solidFill>
                  <a:schemeClr val="tx1"/>
                </a:solidFill>
                <a:latin typeface="Times New Roman" panose="02020603050405020304" pitchFamily="18" charset="0"/>
                <a:ea typeface="Lato Black"/>
                <a:cs typeface="Times New Roman" panose="02020603050405020304" pitchFamily="18" charset="0"/>
                <a:sym typeface="Lato Black"/>
              </a:rPr>
              <a:t>About Me :</a:t>
            </a:r>
            <a:endParaRPr sz="3400" b="1" i="0" u="none" strike="noStrike" cap="none" dirty="0">
              <a:solidFill>
                <a:schemeClr val="tx1"/>
              </a:solidFill>
              <a:latin typeface="Times New Roman" panose="02020603050405020304" pitchFamily="18" charset="0"/>
              <a:ea typeface="Calibri"/>
              <a:cs typeface="Times New Roman" panose="02020603050405020304" pitchFamily="18" charset="0"/>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5"/>
                                        </p:tgtEl>
                                        <p:attrNameLst>
                                          <p:attrName>style.visibility</p:attrName>
                                        </p:attrNameLst>
                                      </p:cBhvr>
                                      <p:to>
                                        <p:strVal val="visible"/>
                                      </p:to>
                                    </p:set>
                                    <p:animEffect transition="in" filter="fade">
                                      <p:cBhvr>
                                        <p:cTn id="7" dur="500"/>
                                        <p:tgtEl>
                                          <p:spTgt spid="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4"/>
          <p:cNvSpPr txBox="1">
            <a:spLocks noGrp="1"/>
          </p:cNvSpPr>
          <p:nvPr>
            <p:ph type="title"/>
          </p:nvPr>
        </p:nvSpPr>
        <p:spPr>
          <a:xfrm>
            <a:off x="263951" y="405353"/>
            <a:ext cx="10460121" cy="729181"/>
          </a:xfrm>
          <a:prstGeom prst="rect">
            <a:avLst/>
          </a:prstGeom>
          <a:noFill/>
          <a:ln>
            <a:noFill/>
          </a:ln>
        </p:spPr>
        <p:txBody>
          <a:bodyPr spcFirstLastPara="1" wrap="square" lIns="91425" tIns="45700" rIns="91425" bIns="45700" anchor="ctr" anchorCtr="0">
            <a:normAutofit/>
          </a:bodyPr>
          <a:lstStyle/>
          <a:p>
            <a:pPr lvl="0">
              <a:buClr>
                <a:srgbClr val="FF0000"/>
              </a:buClr>
              <a:buSzPts val="4400"/>
            </a:pPr>
            <a:r>
              <a:rPr lang="en-IN" sz="3200" b="1" dirty="0">
                <a:solidFill>
                  <a:schemeClr val="tx1"/>
                </a:solidFill>
              </a:rPr>
              <a:t>  </a:t>
            </a:r>
            <a:r>
              <a:rPr lang="en-IN" sz="3200" b="1" dirty="0">
                <a:solidFill>
                  <a:schemeClr val="tx1"/>
                </a:solidFill>
                <a:latin typeface="+mj-lt"/>
              </a:rPr>
              <a:t> Agenda :</a:t>
            </a:r>
            <a:endParaRPr sz="3200" b="1" dirty="0">
              <a:solidFill>
                <a:schemeClr val="tx1"/>
              </a:solidFill>
              <a:latin typeface="+mj-lt"/>
            </a:endParaRPr>
          </a:p>
        </p:txBody>
      </p:sp>
      <p:sp>
        <p:nvSpPr>
          <p:cNvPr id="111" name="Google Shape;111;p4"/>
          <p:cNvSpPr txBox="1">
            <a:spLocks noGrp="1"/>
          </p:cNvSpPr>
          <p:nvPr>
            <p:ph type="body" idx="1"/>
          </p:nvPr>
        </p:nvSpPr>
        <p:spPr>
          <a:xfrm>
            <a:off x="537328" y="1134534"/>
            <a:ext cx="10663152" cy="5318113"/>
          </a:xfrm>
          <a:prstGeom prst="rect">
            <a:avLst/>
          </a:prstGeom>
          <a:noFill/>
          <a:ln>
            <a:noFill/>
          </a:ln>
        </p:spPr>
        <p:txBody>
          <a:bodyPr spcFirstLastPara="1" wrap="square" lIns="91425" tIns="45700" rIns="91425" bIns="45700" anchor="t" anchorCtr="0">
            <a:normAutofit/>
          </a:bodyPr>
          <a:lstStyle/>
          <a:p>
            <a:pPr marL="25400" lvl="0" indent="0">
              <a:buSzPts val="2400"/>
              <a:buNone/>
            </a:pPr>
            <a:r>
              <a:rPr lang="en-IN" dirty="0">
                <a:latin typeface="Times New Roman" panose="02020603050405020304" pitchFamily="18" charset="0"/>
                <a:cs typeface="Times New Roman" panose="02020603050405020304" pitchFamily="18" charset="0"/>
              </a:rPr>
              <a:t>✓</a:t>
            </a:r>
            <a:r>
              <a:rPr lang="en-IN" sz="2400" dirty="0">
                <a:latin typeface="Times New Roman" panose="02020603050405020304" pitchFamily="18" charset="0"/>
                <a:cs typeface="Times New Roman" panose="02020603050405020304" pitchFamily="18" charset="0"/>
              </a:rPr>
              <a:t>Business Problem</a:t>
            </a:r>
          </a:p>
          <a:p>
            <a:pPr marL="25400" lvl="0" indent="0">
              <a:buSzPts val="2400"/>
              <a:buNone/>
            </a:pPr>
            <a:r>
              <a:rPr lang="en-IN" sz="2400" dirty="0">
                <a:latin typeface="Times New Roman" panose="02020603050405020304" pitchFamily="18" charset="0"/>
                <a:cs typeface="Times New Roman" panose="02020603050405020304" pitchFamily="18" charset="0"/>
              </a:rPr>
              <a:t>✓ Problem statement</a:t>
            </a:r>
          </a:p>
          <a:p>
            <a:pPr marL="25400" lvl="0" indent="0">
              <a:buSzPts val="2400"/>
              <a:buNone/>
            </a:pPr>
            <a:r>
              <a:rPr lang="en-IN" sz="2400" dirty="0">
                <a:latin typeface="Times New Roman" panose="02020603050405020304" pitchFamily="18" charset="0"/>
                <a:cs typeface="Times New Roman" panose="02020603050405020304" pitchFamily="18" charset="0"/>
              </a:rPr>
              <a:t>✓ Introduction</a:t>
            </a:r>
          </a:p>
          <a:p>
            <a:pPr marL="25400" lvl="0" indent="0">
              <a:buSzPts val="2400"/>
              <a:buNone/>
            </a:pPr>
            <a:r>
              <a:rPr lang="en-IN" sz="2400" dirty="0">
                <a:latin typeface="Times New Roman" panose="02020603050405020304" pitchFamily="18" charset="0"/>
                <a:cs typeface="Times New Roman" panose="02020603050405020304" pitchFamily="18" charset="0"/>
              </a:rPr>
              <a:t>✓  Data Collection</a:t>
            </a:r>
          </a:p>
          <a:p>
            <a:pPr marL="25400" lvl="0" indent="0">
              <a:buSzPts val="2400"/>
              <a:buNone/>
            </a:pPr>
            <a:r>
              <a:rPr lang="en-IN" sz="2400" dirty="0">
                <a:latin typeface="Times New Roman" panose="02020603050405020304" pitchFamily="18" charset="0"/>
                <a:cs typeface="Times New Roman" panose="02020603050405020304" pitchFamily="18" charset="0"/>
              </a:rPr>
              <a:t>✓  Data Description</a:t>
            </a:r>
          </a:p>
          <a:p>
            <a:pPr marL="25400" lvl="0" indent="0">
              <a:buSzPts val="2400"/>
              <a:buNone/>
            </a:pPr>
            <a:r>
              <a:rPr lang="en-IN" sz="2400" dirty="0">
                <a:latin typeface="Times New Roman" panose="02020603050405020304" pitchFamily="18" charset="0"/>
                <a:cs typeface="Times New Roman" panose="02020603050405020304" pitchFamily="18" charset="0"/>
              </a:rPr>
              <a:t>✓  Data Cleaning &amp; Preprocessing</a:t>
            </a:r>
          </a:p>
          <a:p>
            <a:pPr marL="25400" indent="0">
              <a:buSzPts val="2400"/>
              <a:buNone/>
            </a:pPr>
            <a:r>
              <a:rPr lang="en-IN" sz="2400" dirty="0">
                <a:latin typeface="Times New Roman" panose="02020603050405020304" pitchFamily="18" charset="0"/>
                <a:cs typeface="Times New Roman" panose="02020603050405020304" pitchFamily="18" charset="0"/>
              </a:rPr>
              <a:t>✓  Testing</a:t>
            </a:r>
          </a:p>
          <a:p>
            <a:pPr marL="25400" lvl="0" indent="0">
              <a:buSzPts val="2400"/>
              <a:buNone/>
            </a:pPr>
            <a:r>
              <a:rPr lang="en-IN" sz="2400" dirty="0">
                <a:latin typeface="Times New Roman" panose="02020603050405020304" pitchFamily="18" charset="0"/>
                <a:cs typeface="Times New Roman" panose="02020603050405020304" pitchFamily="18" charset="0"/>
              </a:rPr>
              <a:t>✓  Data Visualization &amp; Insights</a:t>
            </a:r>
          </a:p>
          <a:p>
            <a:pPr marL="25400" indent="0">
              <a:buSzPts val="2400"/>
              <a:buNone/>
            </a:pPr>
            <a:r>
              <a:rPr lang="en-IN" sz="2400" dirty="0">
                <a:latin typeface="Times New Roman" panose="02020603050405020304" pitchFamily="18" charset="0"/>
                <a:cs typeface="Times New Roman" panose="02020603050405020304" pitchFamily="18" charset="0"/>
              </a:rPr>
              <a:t>✓  Future Enhancements</a:t>
            </a:r>
          </a:p>
          <a:p>
            <a:pPr marL="25400" indent="0">
              <a:buSzPts val="2400"/>
              <a:buNone/>
            </a:pPr>
            <a:r>
              <a:rPr lang="en-IN" sz="2400" dirty="0">
                <a:latin typeface="Times New Roman" panose="02020603050405020304" pitchFamily="18" charset="0"/>
                <a:cs typeface="Times New Roman" panose="02020603050405020304" pitchFamily="18" charset="0"/>
              </a:rPr>
              <a:t>✓  Conclusion</a:t>
            </a:r>
          </a:p>
          <a:p>
            <a:pPr marL="25400" indent="0">
              <a:buSzPts val="2400"/>
              <a:buNone/>
            </a:pPr>
            <a:endParaRPr lang="en-IN" sz="2400" dirty="0">
              <a:latin typeface="Times New Roman" panose="02020603050405020304" pitchFamily="18" charset="0"/>
              <a:cs typeface="Times New Roman" panose="02020603050405020304" pitchFamily="18" charset="0"/>
            </a:endParaRPr>
          </a:p>
          <a:p>
            <a:pPr marL="25400" lvl="0" indent="0">
              <a:buSzPts val="2400"/>
              <a:buNone/>
            </a:pPr>
            <a:endParaRPr lang="en-IN" sz="2600" dirty="0">
              <a:latin typeface="Times New Roman" panose="02020603050405020304" pitchFamily="18" charset="0"/>
              <a:cs typeface="Times New Roman" panose="02020603050405020304" pitchFamily="18" charset="0"/>
            </a:endParaRPr>
          </a:p>
          <a:p>
            <a:pPr marL="25400" indent="0">
              <a:buSzPts val="2400"/>
              <a:buNone/>
            </a:pPr>
            <a:endParaRPr lang="en-IN" dirty="0">
              <a:latin typeface="Times New Roman" panose="02020603050405020304" pitchFamily="18" charset="0"/>
              <a:cs typeface="Times New Roman" panose="02020603050405020304" pitchFamily="18" charset="0"/>
            </a:endParaRPr>
          </a:p>
          <a:p>
            <a:pPr marL="25400" lvl="0" indent="0">
              <a:buSzPts val="2400"/>
              <a:buNone/>
            </a:pPr>
            <a:endParaRPr lang="en-IN" dirty="0">
              <a:latin typeface="Times New Roman" panose="02020603050405020304" pitchFamily="18" charset="0"/>
              <a:cs typeface="Times New Roman" panose="02020603050405020304" pitchFamily="18" charset="0"/>
            </a:endParaRPr>
          </a:p>
          <a:p>
            <a:pPr marL="25400" lvl="0" indent="0">
              <a:buSzPts val="2400"/>
              <a:buNone/>
            </a:pP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55D02A7-C947-24DD-D5D3-D30C8AA33CDB}"/>
              </a:ext>
            </a:extLst>
          </p:cNvPr>
          <p:cNvSpPr txBox="1"/>
          <p:nvPr/>
        </p:nvSpPr>
        <p:spPr>
          <a:xfrm>
            <a:off x="424206" y="1432874"/>
            <a:ext cx="11319846" cy="1938992"/>
          </a:xfrm>
          <a:prstGeom prst="rect">
            <a:avLst/>
          </a:prstGeom>
          <a:noFill/>
        </p:spPr>
        <p:txBody>
          <a:bodyPr wrap="square" rtlCol="0">
            <a:spAutoFit/>
          </a:bodyPr>
          <a:lstStyle/>
          <a:p>
            <a:pPr algn="just"/>
            <a:r>
              <a:rPr lang="en-IN" sz="2400" dirty="0">
                <a:latin typeface="Times New Roman" panose="02020603050405020304" pitchFamily="18" charset="0"/>
                <a:cs typeface="Times New Roman" panose="02020603050405020304" pitchFamily="18" charset="0"/>
              </a:rPr>
              <a:t>Internship opportunities are available across different profiles, locations, work modes, stipends, and durations. However, comparing these opportunities and understanding overall internship trends can be challenging without well-organized data. Applicants often find it difficult to compare internship opportunities across different companies, locations, stipend ranges, and skill requirements.</a:t>
            </a:r>
          </a:p>
        </p:txBody>
      </p:sp>
      <p:sp>
        <p:nvSpPr>
          <p:cNvPr id="3" name="TextBox 2">
            <a:extLst>
              <a:ext uri="{FF2B5EF4-FFF2-40B4-BE49-F238E27FC236}">
                <a16:creationId xmlns:a16="http://schemas.microsoft.com/office/drawing/2014/main" id="{E0390C06-B12D-6D89-FAF4-4B93693A991A}"/>
              </a:ext>
            </a:extLst>
          </p:cNvPr>
          <p:cNvSpPr txBox="1"/>
          <p:nvPr/>
        </p:nvSpPr>
        <p:spPr>
          <a:xfrm>
            <a:off x="424206" y="650450"/>
            <a:ext cx="5129927" cy="584775"/>
          </a:xfrm>
          <a:prstGeom prst="rect">
            <a:avLst/>
          </a:prstGeom>
          <a:noFill/>
        </p:spPr>
        <p:txBody>
          <a:bodyPr wrap="square" rtlCol="0">
            <a:spAutoFit/>
          </a:bodyPr>
          <a:lstStyle/>
          <a:p>
            <a:r>
              <a:rPr lang="en-IN" sz="3200" b="1" dirty="0">
                <a:solidFill>
                  <a:schemeClr val="tx1"/>
                </a:solidFill>
              </a:rPr>
              <a:t>Business Problem :</a:t>
            </a:r>
          </a:p>
        </p:txBody>
      </p:sp>
    </p:spTree>
    <p:extLst>
      <p:ext uri="{BB962C8B-B14F-4D97-AF65-F5344CB8AC3E}">
        <p14:creationId xmlns:p14="http://schemas.microsoft.com/office/powerpoint/2010/main" val="39038593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CADF2F4-AF64-D34B-C096-F1901B417187}"/>
              </a:ext>
            </a:extLst>
          </p:cNvPr>
          <p:cNvSpPr txBox="1"/>
          <p:nvPr/>
        </p:nvSpPr>
        <p:spPr>
          <a:xfrm>
            <a:off x="507999" y="524934"/>
            <a:ext cx="3962401" cy="523220"/>
          </a:xfrm>
          <a:prstGeom prst="rect">
            <a:avLst/>
          </a:prstGeom>
          <a:noFill/>
        </p:spPr>
        <p:txBody>
          <a:bodyPr wrap="square" rtlCol="0">
            <a:spAutoFit/>
          </a:bodyPr>
          <a:lstStyle/>
          <a:p>
            <a:r>
              <a:rPr lang="en-IN" sz="2800" b="1" dirty="0">
                <a:latin typeface="Times New Roman" panose="02020603050405020304" pitchFamily="18" charset="0"/>
                <a:cs typeface="Times New Roman" panose="02020603050405020304" pitchFamily="18" charset="0"/>
              </a:rPr>
              <a:t>Problem Statement :</a:t>
            </a:r>
          </a:p>
        </p:txBody>
      </p:sp>
      <p:sp>
        <p:nvSpPr>
          <p:cNvPr id="4" name="TextBox 3">
            <a:extLst>
              <a:ext uri="{FF2B5EF4-FFF2-40B4-BE49-F238E27FC236}">
                <a16:creationId xmlns:a16="http://schemas.microsoft.com/office/drawing/2014/main" id="{30762A9D-FD9A-733C-F415-A1135BD6D1E8}"/>
              </a:ext>
            </a:extLst>
          </p:cNvPr>
          <p:cNvSpPr txBox="1"/>
          <p:nvPr/>
        </p:nvSpPr>
        <p:spPr>
          <a:xfrm>
            <a:off x="541866" y="1139945"/>
            <a:ext cx="11108268" cy="1938992"/>
          </a:xfrm>
          <a:prstGeom prst="rect">
            <a:avLst/>
          </a:prstGeom>
          <a:noFill/>
        </p:spPr>
        <p:txBody>
          <a:bodyPr wrap="square" rtlCol="0">
            <a:spAutoFit/>
          </a:bodyPr>
          <a:lstStyle/>
          <a:p>
            <a:pPr algn="just"/>
            <a:r>
              <a:rPr lang="en-IN" sz="2400" dirty="0">
                <a:latin typeface="Times New Roman" panose="02020603050405020304" pitchFamily="18" charset="0"/>
                <a:cs typeface="Times New Roman" panose="02020603050405020304" pitchFamily="18" charset="0"/>
              </a:rPr>
              <a:t>Web scraping was used to collect internship data from </a:t>
            </a:r>
            <a:r>
              <a:rPr lang="en-IN" sz="2400" dirty="0" err="1">
                <a:latin typeface="Times New Roman" panose="02020603050405020304" pitchFamily="18" charset="0"/>
                <a:cs typeface="Times New Roman" panose="02020603050405020304" pitchFamily="18" charset="0"/>
              </a:rPr>
              <a:t>Internshala</a:t>
            </a:r>
            <a:r>
              <a:rPr lang="en-IN" sz="2400" dirty="0">
                <a:latin typeface="Times New Roman" panose="02020603050405020304" pitchFamily="18" charset="0"/>
                <a:cs typeface="Times New Roman" panose="02020603050405020304" pitchFamily="18" charset="0"/>
              </a:rPr>
              <a:t> using Selenium and </a:t>
            </a:r>
            <a:r>
              <a:rPr lang="en-IN" sz="2400" dirty="0" err="1">
                <a:latin typeface="Times New Roman" panose="02020603050405020304" pitchFamily="18" charset="0"/>
                <a:cs typeface="Times New Roman" panose="02020603050405020304" pitchFamily="18" charset="0"/>
              </a:rPr>
              <a:t>BeautifulSoup</a:t>
            </a:r>
            <a:r>
              <a:rPr lang="en-IN" sz="2400" dirty="0">
                <a:latin typeface="Times New Roman" panose="02020603050405020304" pitchFamily="18" charset="0"/>
                <a:cs typeface="Times New Roman" panose="02020603050405020304" pitchFamily="18" charset="0"/>
              </a:rPr>
              <a:t>. The collected data was cleaned and </a:t>
            </a:r>
            <a:r>
              <a:rPr lang="en-IN" sz="2400" dirty="0" err="1">
                <a:latin typeface="Times New Roman" panose="02020603050405020304" pitchFamily="18" charset="0"/>
                <a:cs typeface="Times New Roman" panose="02020603050405020304" pitchFamily="18" charset="0"/>
              </a:rPr>
              <a:t>analyzed</a:t>
            </a:r>
            <a:r>
              <a:rPr lang="en-IN" sz="2400" dirty="0">
                <a:latin typeface="Times New Roman" panose="02020603050405020304" pitchFamily="18" charset="0"/>
                <a:cs typeface="Times New Roman" panose="02020603050405020304" pitchFamily="18" charset="0"/>
              </a:rPr>
              <a:t> using Python, Pandas, and visualization libraries to identify patterns in stipends, locations, work modes, required skills, companies, and internship durations. These insights help applicants compare opportunities and make informed internship decisions.</a:t>
            </a:r>
          </a:p>
        </p:txBody>
      </p:sp>
    </p:spTree>
    <p:extLst>
      <p:ext uri="{BB962C8B-B14F-4D97-AF65-F5344CB8AC3E}">
        <p14:creationId xmlns:p14="http://schemas.microsoft.com/office/powerpoint/2010/main" val="13822981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53A1979-DDDC-A4D5-30C1-5F13B627C6E7}"/>
              </a:ext>
            </a:extLst>
          </p:cNvPr>
          <p:cNvSpPr txBox="1"/>
          <p:nvPr/>
        </p:nvSpPr>
        <p:spPr>
          <a:xfrm>
            <a:off x="485831" y="1319926"/>
            <a:ext cx="11180189" cy="2308324"/>
          </a:xfrm>
          <a:prstGeom prst="rect">
            <a:avLst/>
          </a:prstGeom>
          <a:noFill/>
        </p:spPr>
        <p:txBody>
          <a:bodyPr wrap="square" rtlCol="0">
            <a:spAutoFit/>
          </a:bodyPr>
          <a:lstStyle/>
          <a:p>
            <a:pPr algn="just"/>
            <a:r>
              <a:rPr lang="en-IN" sz="2400" dirty="0" err="1">
                <a:latin typeface="Times New Roman" panose="02020603050405020304" pitchFamily="18" charset="0"/>
                <a:cs typeface="Times New Roman" panose="02020603050405020304" pitchFamily="18" charset="0"/>
              </a:rPr>
              <a:t>Internshala</a:t>
            </a:r>
            <a:r>
              <a:rPr lang="en-IN" sz="2400" dirty="0">
                <a:latin typeface="Times New Roman" panose="02020603050405020304" pitchFamily="18" charset="0"/>
                <a:cs typeface="Times New Roman" panose="02020603050405020304" pitchFamily="18" charset="0"/>
              </a:rPr>
              <a:t> is a online platform that provides internship opportunities across various domains and industries. Internship listings offer valuable information about the current internship market, including available roles and the skills employers look for. This project explores the internship market to gain a clearer understanding of the opportunities and to identify the trends reflected in the collected data.</a:t>
            </a:r>
          </a:p>
          <a:p>
            <a:pPr algn="just"/>
            <a:endParaRPr lang="en-IN" sz="24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AD29A00A-A303-6371-AC7D-BA9F11D72736}"/>
              </a:ext>
            </a:extLst>
          </p:cNvPr>
          <p:cNvSpPr txBox="1"/>
          <p:nvPr/>
        </p:nvSpPr>
        <p:spPr>
          <a:xfrm>
            <a:off x="485831" y="508000"/>
            <a:ext cx="4387827" cy="615553"/>
          </a:xfrm>
          <a:prstGeom prst="rect">
            <a:avLst/>
          </a:prstGeom>
          <a:noFill/>
        </p:spPr>
        <p:txBody>
          <a:bodyPr wrap="square" rtlCol="0">
            <a:spAutoFit/>
          </a:bodyPr>
          <a:lstStyle/>
          <a:p>
            <a:r>
              <a:rPr lang="en-US" sz="3200" b="1" dirty="0">
                <a:solidFill>
                  <a:schemeClr val="tx1"/>
                </a:solidFill>
              </a:rPr>
              <a:t>Introduction</a:t>
            </a:r>
            <a:r>
              <a:rPr lang="en-US" sz="3400" b="1" dirty="0">
                <a:solidFill>
                  <a:schemeClr val="tx1"/>
                </a:solidFill>
              </a:rPr>
              <a:t>:</a:t>
            </a:r>
            <a:endParaRPr lang="en-IN" sz="3400" b="1" dirty="0">
              <a:solidFill>
                <a:schemeClr val="tx1"/>
              </a:solidFill>
            </a:endParaRPr>
          </a:p>
        </p:txBody>
      </p:sp>
    </p:spTree>
    <p:extLst>
      <p:ext uri="{BB962C8B-B14F-4D97-AF65-F5344CB8AC3E}">
        <p14:creationId xmlns:p14="http://schemas.microsoft.com/office/powerpoint/2010/main" val="13420299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B9D9731-A6F5-5428-309B-56328FCB9FD0}"/>
              </a:ext>
            </a:extLst>
          </p:cNvPr>
          <p:cNvSpPr txBox="1"/>
          <p:nvPr/>
        </p:nvSpPr>
        <p:spPr>
          <a:xfrm>
            <a:off x="304800" y="728133"/>
            <a:ext cx="8686453" cy="646331"/>
          </a:xfrm>
          <a:prstGeom prst="rect">
            <a:avLst/>
          </a:prstGeom>
          <a:noFill/>
        </p:spPr>
        <p:txBody>
          <a:bodyPr wrap="square" rtlCol="0">
            <a:spAutoFit/>
          </a:bodyPr>
          <a:lstStyle/>
          <a:p>
            <a:r>
              <a:rPr lang="en-IN" sz="3600" b="1" dirty="0"/>
              <a:t>  </a:t>
            </a:r>
            <a:r>
              <a:rPr lang="en-IN" sz="3200" b="1" dirty="0"/>
              <a:t>Data Collection :</a:t>
            </a:r>
          </a:p>
        </p:txBody>
      </p:sp>
      <p:sp>
        <p:nvSpPr>
          <p:cNvPr id="3" name="TextBox 2">
            <a:extLst>
              <a:ext uri="{FF2B5EF4-FFF2-40B4-BE49-F238E27FC236}">
                <a16:creationId xmlns:a16="http://schemas.microsoft.com/office/drawing/2014/main" id="{5AD7428D-445B-0852-7E69-E8F1311BA0AD}"/>
              </a:ext>
            </a:extLst>
          </p:cNvPr>
          <p:cNvSpPr txBox="1"/>
          <p:nvPr/>
        </p:nvSpPr>
        <p:spPr>
          <a:xfrm>
            <a:off x="601133" y="1608668"/>
            <a:ext cx="10989733" cy="2308324"/>
          </a:xfrm>
          <a:prstGeom prst="rect">
            <a:avLst/>
          </a:prstGeom>
          <a:noFill/>
        </p:spPr>
        <p:txBody>
          <a:bodyPr wrap="square" rtlCol="0">
            <a:spAutoFit/>
          </a:bodyPr>
          <a:lstStyle/>
          <a:p>
            <a:pPr algn="just"/>
            <a:r>
              <a:rPr lang="en-IN" sz="2400" dirty="0">
                <a:latin typeface="Times New Roman" panose="02020603050405020304" pitchFamily="18" charset="0"/>
                <a:cs typeface="Times New Roman" panose="02020603050405020304" pitchFamily="18" charset="0"/>
              </a:rPr>
              <a:t>For data collection, I used Selenium and </a:t>
            </a:r>
            <a:r>
              <a:rPr lang="en-IN" sz="2400" dirty="0" err="1">
                <a:latin typeface="Times New Roman" panose="02020603050405020304" pitchFamily="18" charset="0"/>
                <a:cs typeface="Times New Roman" panose="02020603050405020304" pitchFamily="18" charset="0"/>
              </a:rPr>
              <a:t>BeautifulSoup</a:t>
            </a:r>
            <a:r>
              <a:rPr lang="en-IN" sz="2400" dirty="0">
                <a:latin typeface="Times New Roman" panose="02020603050405020304" pitchFamily="18" charset="0"/>
                <a:cs typeface="Times New Roman" panose="02020603050405020304" pitchFamily="18" charset="0"/>
              </a:rPr>
              <a:t> with Python. Selenium helped me access the webpage, while </a:t>
            </a:r>
            <a:r>
              <a:rPr lang="en-IN" sz="2400" dirty="0" err="1">
                <a:latin typeface="Times New Roman" panose="02020603050405020304" pitchFamily="18" charset="0"/>
                <a:cs typeface="Times New Roman" panose="02020603050405020304" pitchFamily="18" charset="0"/>
              </a:rPr>
              <a:t>BeautifulSoup</a:t>
            </a:r>
            <a:r>
              <a:rPr lang="en-IN" sz="2400" dirty="0">
                <a:latin typeface="Times New Roman" panose="02020603050405020304" pitchFamily="18" charset="0"/>
                <a:cs typeface="Times New Roman" panose="02020603050405020304" pitchFamily="18" charset="0"/>
              </a:rPr>
              <a:t> helped extract the required information from its HTML structure. The internship data was collected from </a:t>
            </a:r>
            <a:r>
              <a:rPr lang="en-IN" sz="2400" dirty="0" err="1">
                <a:latin typeface="Times New Roman" panose="02020603050405020304" pitchFamily="18" charset="0"/>
                <a:cs typeface="Times New Roman" panose="02020603050405020304" pitchFamily="18" charset="0"/>
              </a:rPr>
              <a:t>Internshala</a:t>
            </a:r>
            <a:r>
              <a:rPr lang="en-IN" sz="2400" dirty="0">
                <a:latin typeface="Times New Roman" panose="02020603050405020304" pitchFamily="18" charset="0"/>
                <a:cs typeface="Times New Roman" panose="02020603050405020304" pitchFamily="18" charset="0"/>
              </a:rPr>
              <a:t> and organized into a structured Pandas </a:t>
            </a:r>
            <a:r>
              <a:rPr lang="en-IN" sz="2400" dirty="0" err="1">
                <a:latin typeface="Times New Roman" panose="02020603050405020304" pitchFamily="18" charset="0"/>
                <a:cs typeface="Times New Roman" panose="02020603050405020304" pitchFamily="18" charset="0"/>
              </a:rPr>
              <a:t>DataFrame</a:t>
            </a:r>
            <a:r>
              <a:rPr lang="en-IN" sz="2400" dirty="0">
                <a:latin typeface="Times New Roman" panose="02020603050405020304" pitchFamily="18" charset="0"/>
                <a:cs typeface="Times New Roman" panose="02020603050405020304" pitchFamily="18" charset="0"/>
              </a:rPr>
              <a:t> containing 610 internship records. The dataset includes details such as internship title, company, location, stipend, duration, skills, and posting information.</a:t>
            </a:r>
          </a:p>
        </p:txBody>
      </p:sp>
    </p:spTree>
    <p:extLst>
      <p:ext uri="{BB962C8B-B14F-4D97-AF65-F5344CB8AC3E}">
        <p14:creationId xmlns:p14="http://schemas.microsoft.com/office/powerpoint/2010/main" val="3048302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43AB570-A002-90B9-70B8-93B3E0CBD6FE}"/>
              </a:ext>
            </a:extLst>
          </p:cNvPr>
          <p:cNvPicPr>
            <a:picLocks noChangeAspect="1"/>
          </p:cNvPicPr>
          <p:nvPr/>
        </p:nvPicPr>
        <p:blipFill>
          <a:blip r:embed="rId2"/>
          <a:stretch>
            <a:fillRect/>
          </a:stretch>
        </p:blipFill>
        <p:spPr>
          <a:xfrm>
            <a:off x="1151467" y="1066799"/>
            <a:ext cx="9279465" cy="4809068"/>
          </a:xfrm>
          <a:prstGeom prst="rect">
            <a:avLst/>
          </a:prstGeom>
        </p:spPr>
      </p:pic>
      <p:sp>
        <p:nvSpPr>
          <p:cNvPr id="4" name="TextBox 3">
            <a:extLst>
              <a:ext uri="{FF2B5EF4-FFF2-40B4-BE49-F238E27FC236}">
                <a16:creationId xmlns:a16="http://schemas.microsoft.com/office/drawing/2014/main" id="{8F36D05B-A86B-D940-1FB6-79BE202CCD0E}"/>
              </a:ext>
            </a:extLst>
          </p:cNvPr>
          <p:cNvSpPr txBox="1"/>
          <p:nvPr/>
        </p:nvSpPr>
        <p:spPr>
          <a:xfrm>
            <a:off x="558800" y="338668"/>
            <a:ext cx="7619999" cy="461665"/>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Sample of the collected  dataset</a:t>
            </a:r>
          </a:p>
        </p:txBody>
      </p:sp>
    </p:spTree>
    <p:extLst>
      <p:ext uri="{BB962C8B-B14F-4D97-AF65-F5344CB8AC3E}">
        <p14:creationId xmlns:p14="http://schemas.microsoft.com/office/powerpoint/2010/main" val="19025954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660D637-6EB7-8DEB-7C1B-BA95FA50B977}"/>
              </a:ext>
            </a:extLst>
          </p:cNvPr>
          <p:cNvSpPr txBox="1"/>
          <p:nvPr/>
        </p:nvSpPr>
        <p:spPr>
          <a:xfrm>
            <a:off x="575733" y="1036300"/>
            <a:ext cx="10888134" cy="830997"/>
          </a:xfrm>
          <a:prstGeom prst="rect">
            <a:avLst/>
          </a:prstGeom>
          <a:noFill/>
        </p:spPr>
        <p:txBody>
          <a:bodyPr wrap="square" rtlCol="0">
            <a:spAutoFit/>
          </a:bodyPr>
          <a:lstStyle/>
          <a:p>
            <a:r>
              <a:rPr lang="en-IN" sz="2400" dirty="0">
                <a:latin typeface="Times New Roman" panose="02020603050405020304" pitchFamily="18" charset="0"/>
                <a:cs typeface="Times New Roman" panose="02020603050405020304" pitchFamily="18" charset="0"/>
              </a:rPr>
              <a:t>The collected dataset contains </a:t>
            </a:r>
            <a:r>
              <a:rPr lang="en-IN" sz="2400" b="1" dirty="0">
                <a:latin typeface="Times New Roman" panose="02020603050405020304" pitchFamily="18" charset="0"/>
                <a:cs typeface="Times New Roman" panose="02020603050405020304" pitchFamily="18" charset="0"/>
              </a:rPr>
              <a:t>610 internship records</a:t>
            </a:r>
            <a:r>
              <a:rPr lang="en-IN" sz="2400" dirty="0">
                <a:latin typeface="Times New Roman" panose="02020603050405020304" pitchFamily="18" charset="0"/>
                <a:cs typeface="Times New Roman" panose="02020603050405020304" pitchFamily="18" charset="0"/>
              </a:rPr>
              <a:t> with </a:t>
            </a:r>
            <a:r>
              <a:rPr lang="en-IN" sz="2400" b="1" dirty="0">
                <a:latin typeface="Times New Roman" panose="02020603050405020304" pitchFamily="18" charset="0"/>
                <a:cs typeface="Times New Roman" panose="02020603050405020304" pitchFamily="18" charset="0"/>
              </a:rPr>
              <a:t>7 attributes</a:t>
            </a:r>
            <a:r>
              <a:rPr lang="en-IN" sz="2400" dirty="0">
                <a:latin typeface="Times New Roman" panose="02020603050405020304" pitchFamily="18" charset="0"/>
                <a:cs typeface="Times New Roman" panose="02020603050405020304" pitchFamily="18" charset="0"/>
              </a:rPr>
              <a:t> describing each internship opportunity.</a:t>
            </a:r>
          </a:p>
        </p:txBody>
      </p:sp>
      <p:sp>
        <p:nvSpPr>
          <p:cNvPr id="4" name="TextBox 3">
            <a:extLst>
              <a:ext uri="{FF2B5EF4-FFF2-40B4-BE49-F238E27FC236}">
                <a16:creationId xmlns:a16="http://schemas.microsoft.com/office/drawing/2014/main" id="{F3AD0803-21AB-F51E-1E31-10F100C98A5B}"/>
              </a:ext>
            </a:extLst>
          </p:cNvPr>
          <p:cNvSpPr txBox="1"/>
          <p:nvPr/>
        </p:nvSpPr>
        <p:spPr>
          <a:xfrm>
            <a:off x="575733" y="388143"/>
            <a:ext cx="3042821" cy="523220"/>
          </a:xfrm>
          <a:prstGeom prst="rect">
            <a:avLst/>
          </a:prstGeom>
          <a:noFill/>
        </p:spPr>
        <p:txBody>
          <a:bodyPr wrap="none" rtlCol="0">
            <a:spAutoFit/>
          </a:bodyPr>
          <a:lstStyle/>
          <a:p>
            <a:r>
              <a:rPr lang="en-US" sz="2800" b="1" dirty="0"/>
              <a:t>Data Description</a:t>
            </a:r>
            <a:endParaRPr lang="en-IN" sz="2800" b="1" dirty="0"/>
          </a:p>
        </p:txBody>
      </p:sp>
      <p:pic>
        <p:nvPicPr>
          <p:cNvPr id="8" name="table">
            <a:extLst>
              <a:ext uri="{FF2B5EF4-FFF2-40B4-BE49-F238E27FC236}">
                <a16:creationId xmlns:a16="http://schemas.microsoft.com/office/drawing/2014/main" id="{8ACCA521-D615-BE25-0B5E-016ACD475BCE}"/>
              </a:ext>
            </a:extLst>
          </p:cNvPr>
          <p:cNvPicPr>
            <a:picLocks noChangeAspect="1"/>
          </p:cNvPicPr>
          <p:nvPr/>
        </p:nvPicPr>
        <p:blipFill>
          <a:blip r:embed="rId2"/>
          <a:stretch>
            <a:fillRect/>
          </a:stretch>
        </p:blipFill>
        <p:spPr>
          <a:xfrm>
            <a:off x="1941922" y="2092750"/>
            <a:ext cx="7616857" cy="4010869"/>
          </a:xfrm>
          <a:prstGeom prst="rect">
            <a:avLst/>
          </a:prstGeom>
        </p:spPr>
      </p:pic>
    </p:spTree>
    <p:extLst>
      <p:ext uri="{BB962C8B-B14F-4D97-AF65-F5344CB8AC3E}">
        <p14:creationId xmlns:p14="http://schemas.microsoft.com/office/powerpoint/2010/main" val="11458632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24B2FE2-1CA4-1881-17BF-13D6DCFC2802}"/>
              </a:ext>
            </a:extLst>
          </p:cNvPr>
          <p:cNvSpPr txBox="1"/>
          <p:nvPr/>
        </p:nvSpPr>
        <p:spPr>
          <a:xfrm>
            <a:off x="535009" y="507999"/>
            <a:ext cx="5696458" cy="523220"/>
          </a:xfrm>
          <a:prstGeom prst="rect">
            <a:avLst/>
          </a:prstGeom>
          <a:noFill/>
        </p:spPr>
        <p:txBody>
          <a:bodyPr wrap="square" rtlCol="0">
            <a:spAutoFit/>
          </a:bodyPr>
          <a:lstStyle/>
          <a:p>
            <a:r>
              <a:rPr lang="en-IN" sz="2800" b="1" dirty="0">
                <a:latin typeface="Times New Roman" panose="02020603050405020304" pitchFamily="18" charset="0"/>
                <a:cs typeface="Times New Roman" panose="02020603050405020304" pitchFamily="18" charset="0"/>
              </a:rPr>
              <a:t>Data Cleaning &amp; Preprocessing</a:t>
            </a:r>
          </a:p>
        </p:txBody>
      </p:sp>
      <p:sp>
        <p:nvSpPr>
          <p:cNvPr id="4" name="TextBox 3">
            <a:extLst>
              <a:ext uri="{FF2B5EF4-FFF2-40B4-BE49-F238E27FC236}">
                <a16:creationId xmlns:a16="http://schemas.microsoft.com/office/drawing/2014/main" id="{E56A1E62-B7D1-6B05-B42E-3CC79BAE6925}"/>
              </a:ext>
            </a:extLst>
          </p:cNvPr>
          <p:cNvSpPr txBox="1"/>
          <p:nvPr/>
        </p:nvSpPr>
        <p:spPr>
          <a:xfrm>
            <a:off x="535008" y="1187778"/>
            <a:ext cx="11337202" cy="4154984"/>
          </a:xfrm>
          <a:prstGeom prst="rect">
            <a:avLst/>
          </a:prstGeom>
          <a:noFill/>
        </p:spPr>
        <p:txBody>
          <a:bodyPr wrap="square" rtlCol="0">
            <a:spAutoFit/>
          </a:bodyPr>
          <a:lstStyle/>
          <a:p>
            <a:r>
              <a:rPr lang="en-IN" sz="2400" dirty="0">
                <a:latin typeface="Times New Roman" panose="02020603050405020304" pitchFamily="18" charset="0"/>
                <a:cs typeface="Times New Roman" panose="02020603050405020304" pitchFamily="18" charset="0"/>
              </a:rPr>
              <a:t>The collected data was checked and prepared before analysis. Missing values were checked and identified, particularly in the Duration and Posted columns. The dataset structure and data types were also verified to ensure the data was ready for further analysis. </a:t>
            </a:r>
          </a:p>
          <a:p>
            <a:endParaRPr lang="en-IN" sz="2400" b="1" dirty="0">
              <a:latin typeface="Times New Roman" panose="02020603050405020304" pitchFamily="18" charset="0"/>
              <a:cs typeface="Times New Roman" panose="02020603050405020304" pitchFamily="18" charset="0"/>
            </a:endParaRPr>
          </a:p>
          <a:p>
            <a:r>
              <a:rPr lang="en-IN" sz="2400" b="1" dirty="0">
                <a:latin typeface="Times New Roman" panose="02020603050405020304" pitchFamily="18" charset="0"/>
                <a:cs typeface="Times New Roman" panose="02020603050405020304" pitchFamily="18" charset="0"/>
              </a:rPr>
              <a:t>Key Steps:</a:t>
            </a:r>
          </a:p>
          <a:p>
            <a:pPr lvl="0"/>
            <a:r>
              <a:rPr lang="en-IN" sz="2400" dirty="0">
                <a:latin typeface="Times New Roman" panose="02020603050405020304" pitchFamily="18" charset="0"/>
                <a:cs typeface="Times New Roman" panose="02020603050405020304" pitchFamily="18" charset="0"/>
              </a:rPr>
              <a:t>Handling Missing Value </a:t>
            </a:r>
          </a:p>
          <a:p>
            <a:pPr lvl="0"/>
            <a:r>
              <a:rPr lang="en-IN" sz="2400" dirty="0">
                <a:latin typeface="Times New Roman" panose="02020603050405020304" pitchFamily="18" charset="0"/>
                <a:cs typeface="Times New Roman" panose="02020603050405020304" pitchFamily="18" charset="0"/>
              </a:rPr>
              <a:t>Remove Duplicates</a:t>
            </a:r>
          </a:p>
          <a:p>
            <a:pPr lvl="0"/>
            <a:r>
              <a:rPr lang="en-IN" sz="2400" dirty="0">
                <a:latin typeface="Times New Roman" panose="02020603050405020304" pitchFamily="18" charset="0"/>
                <a:cs typeface="Times New Roman" panose="02020603050405020304" pitchFamily="18" charset="0"/>
              </a:rPr>
              <a:t>Data Type Correction</a:t>
            </a:r>
          </a:p>
          <a:p>
            <a:pPr lvl="0"/>
            <a:r>
              <a:rPr lang="en-IN" sz="2400" dirty="0">
                <a:latin typeface="Times New Roman" panose="02020603050405020304" pitchFamily="18" charset="0"/>
                <a:cs typeface="Times New Roman" panose="02020603050405020304" pitchFamily="18" charset="0"/>
              </a:rPr>
              <a:t>Outlier Detection</a:t>
            </a:r>
          </a:p>
          <a:p>
            <a:pPr lvl="0"/>
            <a:r>
              <a:rPr lang="en-IN" sz="2400" dirty="0">
                <a:latin typeface="Times New Roman" panose="02020603050405020304" pitchFamily="18" charset="0"/>
                <a:cs typeface="Times New Roman" panose="02020603050405020304" pitchFamily="18" charset="0"/>
              </a:rPr>
              <a:t>Text Cleaning</a:t>
            </a:r>
          </a:p>
          <a:p>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844464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F71D81D-4EE5-34C9-2C34-51C175C9220E}"/>
              </a:ext>
            </a:extLst>
          </p:cNvPr>
          <p:cNvSpPr txBox="1"/>
          <p:nvPr/>
        </p:nvSpPr>
        <p:spPr>
          <a:xfrm>
            <a:off x="355600" y="355600"/>
            <a:ext cx="3542168" cy="523220"/>
          </a:xfrm>
          <a:prstGeom prst="rect">
            <a:avLst/>
          </a:prstGeom>
          <a:noFill/>
        </p:spPr>
        <p:txBody>
          <a:bodyPr wrap="square" rtlCol="0">
            <a:spAutoFit/>
          </a:bodyPr>
          <a:lstStyle/>
          <a:p>
            <a:r>
              <a:rPr lang="en-IN" sz="2800" b="1" dirty="0">
                <a:latin typeface="Times New Roman" panose="02020603050405020304" pitchFamily="18" charset="0"/>
                <a:cs typeface="Times New Roman" panose="02020603050405020304" pitchFamily="18" charset="0"/>
              </a:rPr>
              <a:t>Hypothesis Testing : </a:t>
            </a:r>
          </a:p>
        </p:txBody>
      </p:sp>
      <p:sp>
        <p:nvSpPr>
          <p:cNvPr id="4" name="TextBox 3">
            <a:extLst>
              <a:ext uri="{FF2B5EF4-FFF2-40B4-BE49-F238E27FC236}">
                <a16:creationId xmlns:a16="http://schemas.microsoft.com/office/drawing/2014/main" id="{2DA8282A-C8A6-F446-9E84-3BB02415B7CE}"/>
              </a:ext>
            </a:extLst>
          </p:cNvPr>
          <p:cNvSpPr txBox="1"/>
          <p:nvPr/>
        </p:nvSpPr>
        <p:spPr>
          <a:xfrm>
            <a:off x="355600" y="1455244"/>
            <a:ext cx="11437332" cy="4924425"/>
          </a:xfrm>
          <a:prstGeom prst="rect">
            <a:avLst/>
          </a:prstGeom>
          <a:noFill/>
        </p:spPr>
        <p:txBody>
          <a:bodyPr wrap="square" rtlCol="0">
            <a:spAutoFit/>
          </a:bodyPr>
          <a:lstStyle/>
          <a:p>
            <a:pPr marL="342900" lvl="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I selected the t-test because my objective was to compare the sample's average stipend with a single reference value.</a:t>
            </a:r>
          </a:p>
          <a:p>
            <a:pPr marL="342900" lvl="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To check whether the average internship stipend differs significantly from the ₹10,000 reference value.</a:t>
            </a:r>
          </a:p>
          <a:p>
            <a:pPr lvl="0"/>
            <a:r>
              <a:rPr lang="en-IN" sz="2000" dirty="0">
                <a:latin typeface="Times New Roman" panose="02020603050405020304" pitchFamily="18" charset="0"/>
                <a:cs typeface="Times New Roman" panose="02020603050405020304" pitchFamily="18" charset="0"/>
              </a:rPr>
              <a:t>     H₀ (Null Hypothesis): The average internship stipend is equal to ₹10,000.</a:t>
            </a:r>
          </a:p>
          <a:p>
            <a:pPr lvl="0"/>
            <a:r>
              <a:rPr lang="en-IN" sz="2000" dirty="0">
                <a:latin typeface="Times New Roman" panose="02020603050405020304" pitchFamily="18" charset="0"/>
                <a:cs typeface="Times New Roman" panose="02020603050405020304" pitchFamily="18" charset="0"/>
              </a:rPr>
              <a:t>     H₁ (Alternative Hypothesis): The average internship stipend is different from ₹10,000.</a:t>
            </a:r>
          </a:p>
          <a:p>
            <a:pPr lvl="0" algn="just"/>
            <a:endParaRPr lang="en-IN" sz="2000" dirty="0">
              <a:latin typeface="Times New Roman" panose="02020603050405020304" pitchFamily="18" charset="0"/>
              <a:cs typeface="Times New Roman" panose="02020603050405020304" pitchFamily="18" charset="0"/>
            </a:endParaRPr>
          </a:p>
          <a:p>
            <a:pPr marL="342900" lvl="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 T-statistic: 6.56  &gt; T-critical: 1.964, so it rejects the null hypothesis.</a:t>
            </a:r>
          </a:p>
          <a:p>
            <a:pPr lvl="0" algn="just"/>
            <a:endParaRPr lang="en-IN" sz="2000" dirty="0">
              <a:latin typeface="Times New Roman" panose="02020603050405020304" pitchFamily="18" charset="0"/>
              <a:cs typeface="Times New Roman" panose="02020603050405020304" pitchFamily="18" charset="0"/>
            </a:endParaRPr>
          </a:p>
          <a:p>
            <a:pPr algn="just"/>
            <a:r>
              <a:rPr lang="en-IN" sz="2000" b="1" dirty="0">
                <a:latin typeface="Times New Roman" panose="02020603050405020304" pitchFamily="18" charset="0"/>
                <a:cs typeface="Times New Roman" panose="02020603050405020304" pitchFamily="18" charset="0"/>
              </a:rPr>
              <a:t>2. Chi-Square Test</a:t>
            </a:r>
          </a:p>
          <a:p>
            <a:pPr marL="342900" lvl="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To check whether internship work mode is associated with internship duration.</a:t>
            </a:r>
          </a:p>
          <a:p>
            <a:pPr lvl="0"/>
            <a:r>
              <a:rPr lang="en-IN" sz="2000" dirty="0">
                <a:latin typeface="Times New Roman" panose="02020603050405020304" pitchFamily="18" charset="0"/>
                <a:cs typeface="Times New Roman" panose="02020603050405020304" pitchFamily="18" charset="0"/>
              </a:rPr>
              <a:t>     H₀ (Null Hypothesis): There is no significant association between work mode and internship duration.</a:t>
            </a:r>
          </a:p>
          <a:p>
            <a:pPr lvl="0"/>
            <a:r>
              <a:rPr lang="en-IN" sz="2000" dirty="0">
                <a:latin typeface="Times New Roman" panose="02020603050405020304" pitchFamily="18" charset="0"/>
                <a:cs typeface="Times New Roman" panose="02020603050405020304" pitchFamily="18" charset="0"/>
              </a:rPr>
              <a:t>     H₁ (Alternative Hypothesis): There is a significant association between work mode and internship duration.</a:t>
            </a:r>
          </a:p>
          <a:p>
            <a:pPr marL="342900" lvl="0" indent="-342900" algn="just">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342900" lvl="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The T-test identified a difference in average stipend compared with the reference value, while the Chi-square test identified an association between work mode and duration.</a:t>
            </a:r>
          </a:p>
          <a:p>
            <a:pPr algn="just"/>
            <a:r>
              <a:rPr lang="en-IN" dirty="0">
                <a:latin typeface="Times New Roman" panose="02020603050405020304" pitchFamily="18" charset="0"/>
                <a:cs typeface="Times New Roman" panose="02020603050405020304" pitchFamily="18" charset="0"/>
              </a:rPr>
              <a:t>. </a:t>
            </a:r>
          </a:p>
        </p:txBody>
      </p:sp>
      <p:sp>
        <p:nvSpPr>
          <p:cNvPr id="5" name="TextBox 4">
            <a:extLst>
              <a:ext uri="{FF2B5EF4-FFF2-40B4-BE49-F238E27FC236}">
                <a16:creationId xmlns:a16="http://schemas.microsoft.com/office/drawing/2014/main" id="{2F9F1369-B243-10A8-6ABA-185FFCC39838}"/>
              </a:ext>
            </a:extLst>
          </p:cNvPr>
          <p:cNvSpPr txBox="1"/>
          <p:nvPr/>
        </p:nvSpPr>
        <p:spPr>
          <a:xfrm flipH="1">
            <a:off x="399067" y="878820"/>
            <a:ext cx="2530397" cy="400110"/>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1. T -Test</a:t>
            </a:r>
          </a:p>
        </p:txBody>
      </p:sp>
    </p:spTree>
    <p:extLst>
      <p:ext uri="{BB962C8B-B14F-4D97-AF65-F5344CB8AC3E}">
        <p14:creationId xmlns:p14="http://schemas.microsoft.com/office/powerpoint/2010/main" val="11512506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B336852-210A-2568-8E9E-2B4F6A1ED383}"/>
              </a:ext>
            </a:extLst>
          </p:cNvPr>
          <p:cNvPicPr>
            <a:picLocks noChangeAspect="1"/>
          </p:cNvPicPr>
          <p:nvPr/>
        </p:nvPicPr>
        <p:blipFill>
          <a:blip r:embed="rId2"/>
          <a:stretch>
            <a:fillRect/>
          </a:stretch>
        </p:blipFill>
        <p:spPr>
          <a:xfrm>
            <a:off x="494116" y="2142550"/>
            <a:ext cx="7207583" cy="3530339"/>
          </a:xfrm>
          <a:prstGeom prst="rect">
            <a:avLst/>
          </a:prstGeom>
        </p:spPr>
      </p:pic>
      <p:sp>
        <p:nvSpPr>
          <p:cNvPr id="5" name="TextBox 4">
            <a:extLst>
              <a:ext uri="{FF2B5EF4-FFF2-40B4-BE49-F238E27FC236}">
                <a16:creationId xmlns:a16="http://schemas.microsoft.com/office/drawing/2014/main" id="{095C4278-52E3-6B3E-952B-379F6D842A2E}"/>
              </a:ext>
            </a:extLst>
          </p:cNvPr>
          <p:cNvSpPr txBox="1"/>
          <p:nvPr/>
        </p:nvSpPr>
        <p:spPr>
          <a:xfrm>
            <a:off x="502763" y="1545996"/>
            <a:ext cx="4680373" cy="369332"/>
          </a:xfrm>
          <a:prstGeom prst="rect">
            <a:avLst/>
          </a:prstGeom>
          <a:noFill/>
        </p:spPr>
        <p:txBody>
          <a:bodyPr wrap="square" rtlCol="0">
            <a:spAutoFit/>
          </a:bodyPr>
          <a:lstStyle/>
          <a:p>
            <a:r>
              <a:rPr lang="en-IN" sz="1800" b="1" dirty="0">
                <a:latin typeface="Times New Roman" panose="02020603050405020304" pitchFamily="18" charset="0"/>
                <a:cs typeface="Times New Roman" panose="02020603050405020304" pitchFamily="18" charset="0"/>
              </a:rPr>
              <a:t>1. Internship Distribution by Location</a:t>
            </a:r>
          </a:p>
        </p:txBody>
      </p:sp>
      <p:sp>
        <p:nvSpPr>
          <p:cNvPr id="7" name="TextBox 6">
            <a:extLst>
              <a:ext uri="{FF2B5EF4-FFF2-40B4-BE49-F238E27FC236}">
                <a16:creationId xmlns:a16="http://schemas.microsoft.com/office/drawing/2014/main" id="{68DB92D3-48D1-7779-EEA5-6AA9AA4F2AF7}"/>
              </a:ext>
            </a:extLst>
          </p:cNvPr>
          <p:cNvSpPr txBox="1"/>
          <p:nvPr/>
        </p:nvSpPr>
        <p:spPr>
          <a:xfrm>
            <a:off x="494116" y="5900111"/>
            <a:ext cx="11195121" cy="1015663"/>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Insight: </a:t>
            </a:r>
            <a:r>
              <a:rPr lang="en-IN" sz="1800" dirty="0">
                <a:latin typeface="Times New Roman" panose="02020603050405020304" pitchFamily="18" charset="0"/>
                <a:cs typeface="Times New Roman" panose="02020603050405020304" pitchFamily="18" charset="0"/>
              </a:rPr>
              <a:t>“Most internship opportunities in the dataset are concentrated in Mumbai, followed by Bangalore. This indicates that these cities have more internship listings in the collected data.”</a:t>
            </a:r>
          </a:p>
          <a:p>
            <a:endParaRPr lang="en-IN" sz="20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2B90BCB3-6C34-271B-43B3-43F8FF622986}"/>
              </a:ext>
            </a:extLst>
          </p:cNvPr>
          <p:cNvSpPr txBox="1"/>
          <p:nvPr/>
        </p:nvSpPr>
        <p:spPr>
          <a:xfrm>
            <a:off x="358220" y="188536"/>
            <a:ext cx="3152480" cy="523220"/>
          </a:xfrm>
          <a:prstGeom prst="rect">
            <a:avLst/>
          </a:prstGeom>
          <a:noFill/>
        </p:spPr>
        <p:txBody>
          <a:bodyPr wrap="square" rtlCol="0">
            <a:spAutoFit/>
          </a:bodyPr>
          <a:lstStyle/>
          <a:p>
            <a:r>
              <a:rPr lang="en-IN" sz="2800" b="1" dirty="0">
                <a:latin typeface="Times New Roman" panose="02020603050405020304" pitchFamily="18" charset="0"/>
                <a:cs typeface="Times New Roman" panose="02020603050405020304" pitchFamily="18" charset="0"/>
              </a:rPr>
              <a:t>Data Visualization </a:t>
            </a:r>
          </a:p>
        </p:txBody>
      </p:sp>
      <p:sp>
        <p:nvSpPr>
          <p:cNvPr id="9" name="TextBox 8">
            <a:extLst>
              <a:ext uri="{FF2B5EF4-FFF2-40B4-BE49-F238E27FC236}">
                <a16:creationId xmlns:a16="http://schemas.microsoft.com/office/drawing/2014/main" id="{BC7734FE-3BC4-4017-A32A-5CCC6F478D12}"/>
              </a:ext>
            </a:extLst>
          </p:cNvPr>
          <p:cNvSpPr txBox="1"/>
          <p:nvPr/>
        </p:nvSpPr>
        <p:spPr>
          <a:xfrm>
            <a:off x="494116" y="904972"/>
            <a:ext cx="11195121" cy="707886"/>
          </a:xfrm>
          <a:prstGeom prst="rect">
            <a:avLst/>
          </a:prstGeom>
          <a:noFill/>
        </p:spPr>
        <p:txBody>
          <a:bodyPr wrap="square" rtlCol="0">
            <a:spAutoFit/>
          </a:bodyPr>
          <a:lstStyle/>
          <a:p>
            <a:pPr algn="just"/>
            <a:r>
              <a:rPr lang="en-IN" sz="2000" dirty="0">
                <a:latin typeface="Times New Roman" panose="02020603050405020304" pitchFamily="18" charset="0"/>
                <a:cs typeface="Times New Roman" panose="02020603050405020304" pitchFamily="18" charset="0"/>
              </a:rPr>
              <a:t>The data was </a:t>
            </a:r>
            <a:r>
              <a:rPr lang="en-IN" sz="2000" dirty="0" err="1">
                <a:latin typeface="Times New Roman" panose="02020603050405020304" pitchFamily="18" charset="0"/>
                <a:cs typeface="Times New Roman" panose="02020603050405020304" pitchFamily="18" charset="0"/>
              </a:rPr>
              <a:t>analyzed</a:t>
            </a:r>
            <a:r>
              <a:rPr lang="en-IN" sz="2000" dirty="0">
                <a:latin typeface="Times New Roman" panose="02020603050405020304" pitchFamily="18" charset="0"/>
                <a:cs typeface="Times New Roman" panose="02020603050405020304" pitchFamily="18" charset="0"/>
              </a:rPr>
              <a:t> using different visualizations to understand key trends and patterns. These charts highlight insights related to locations, companies, skills, internship duration, and stipends.</a:t>
            </a:r>
          </a:p>
        </p:txBody>
      </p:sp>
    </p:spTree>
    <p:extLst>
      <p:ext uri="{BB962C8B-B14F-4D97-AF65-F5344CB8AC3E}">
        <p14:creationId xmlns:p14="http://schemas.microsoft.com/office/powerpoint/2010/main" val="22987719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EF1CB2B-EB7E-6287-C685-D2562D274510}"/>
              </a:ext>
            </a:extLst>
          </p:cNvPr>
          <p:cNvSpPr txBox="1"/>
          <p:nvPr/>
        </p:nvSpPr>
        <p:spPr>
          <a:xfrm>
            <a:off x="440267" y="457200"/>
            <a:ext cx="3098800" cy="400110"/>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2. Most- In Demand Skills</a:t>
            </a:r>
          </a:p>
        </p:txBody>
      </p:sp>
      <p:pic>
        <p:nvPicPr>
          <p:cNvPr id="5" name="Picture 4">
            <a:extLst>
              <a:ext uri="{FF2B5EF4-FFF2-40B4-BE49-F238E27FC236}">
                <a16:creationId xmlns:a16="http://schemas.microsoft.com/office/drawing/2014/main" id="{99A02426-019C-DB51-8A21-6AAECA8FA2DA}"/>
              </a:ext>
            </a:extLst>
          </p:cNvPr>
          <p:cNvPicPr>
            <a:picLocks noChangeAspect="1"/>
          </p:cNvPicPr>
          <p:nvPr/>
        </p:nvPicPr>
        <p:blipFill>
          <a:blip r:embed="rId2"/>
          <a:stretch>
            <a:fillRect/>
          </a:stretch>
        </p:blipFill>
        <p:spPr>
          <a:xfrm>
            <a:off x="694267" y="1232886"/>
            <a:ext cx="8658714" cy="4392228"/>
          </a:xfrm>
          <a:prstGeom prst="rect">
            <a:avLst/>
          </a:prstGeom>
        </p:spPr>
      </p:pic>
      <p:sp>
        <p:nvSpPr>
          <p:cNvPr id="6" name="TextBox 5">
            <a:extLst>
              <a:ext uri="{FF2B5EF4-FFF2-40B4-BE49-F238E27FC236}">
                <a16:creationId xmlns:a16="http://schemas.microsoft.com/office/drawing/2014/main" id="{DD54FAC8-5411-71BF-AAC9-393BFDE2FD15}"/>
              </a:ext>
            </a:extLst>
          </p:cNvPr>
          <p:cNvSpPr txBox="1"/>
          <p:nvPr/>
        </p:nvSpPr>
        <p:spPr>
          <a:xfrm>
            <a:off x="694267" y="5723467"/>
            <a:ext cx="11074400" cy="707886"/>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Insight : </a:t>
            </a:r>
            <a:r>
              <a:rPr lang="en-IN" sz="2000" dirty="0">
                <a:latin typeface="Times New Roman" panose="02020603050405020304" pitchFamily="18" charset="0"/>
                <a:cs typeface="Times New Roman" panose="02020603050405020304" pitchFamily="18" charset="0"/>
              </a:rPr>
              <a:t>“English Proficiency (Spoken) is the most frequently mentioned skill, followed by Effective Communication and English Proficiency (Written).”</a:t>
            </a:r>
            <a:endParaRPr lang="en-IN"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884050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B572370-A47C-D894-2778-3E36DD8E16AA}"/>
              </a:ext>
            </a:extLst>
          </p:cNvPr>
          <p:cNvSpPr txBox="1"/>
          <p:nvPr/>
        </p:nvSpPr>
        <p:spPr>
          <a:xfrm>
            <a:off x="423333" y="355600"/>
            <a:ext cx="5560669" cy="677108"/>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3. </a:t>
            </a:r>
            <a:r>
              <a:rPr lang="en-IN" sz="2400" b="1" dirty="0">
                <a:latin typeface="Times New Roman" panose="02020603050405020304" pitchFamily="18" charset="0"/>
                <a:cs typeface="Times New Roman" panose="02020603050405020304" pitchFamily="18" charset="0"/>
              </a:rPr>
              <a:t>Internship Work Mode Distribution</a:t>
            </a:r>
          </a:p>
          <a:p>
            <a:r>
              <a:rPr lang="en-US" dirty="0"/>
              <a:t> </a:t>
            </a:r>
            <a:endParaRPr lang="en-IN" dirty="0"/>
          </a:p>
        </p:txBody>
      </p:sp>
      <p:pic>
        <p:nvPicPr>
          <p:cNvPr id="5" name="Picture 4">
            <a:extLst>
              <a:ext uri="{FF2B5EF4-FFF2-40B4-BE49-F238E27FC236}">
                <a16:creationId xmlns:a16="http://schemas.microsoft.com/office/drawing/2014/main" id="{4CD968EC-5472-0D0C-FF11-32CB936481EF}"/>
              </a:ext>
            </a:extLst>
          </p:cNvPr>
          <p:cNvPicPr>
            <a:picLocks noChangeAspect="1"/>
          </p:cNvPicPr>
          <p:nvPr/>
        </p:nvPicPr>
        <p:blipFill>
          <a:blip r:embed="rId2"/>
          <a:stretch>
            <a:fillRect/>
          </a:stretch>
        </p:blipFill>
        <p:spPr>
          <a:xfrm>
            <a:off x="2737600" y="1282045"/>
            <a:ext cx="4653013" cy="3577822"/>
          </a:xfrm>
          <a:prstGeom prst="rect">
            <a:avLst/>
          </a:prstGeom>
        </p:spPr>
      </p:pic>
      <p:sp>
        <p:nvSpPr>
          <p:cNvPr id="6" name="TextBox 5">
            <a:extLst>
              <a:ext uri="{FF2B5EF4-FFF2-40B4-BE49-F238E27FC236}">
                <a16:creationId xmlns:a16="http://schemas.microsoft.com/office/drawing/2014/main" id="{9DC589D2-CDAC-EC98-9FAD-AE1AA9A41BA3}"/>
              </a:ext>
            </a:extLst>
          </p:cNvPr>
          <p:cNvSpPr txBox="1"/>
          <p:nvPr/>
        </p:nvSpPr>
        <p:spPr>
          <a:xfrm>
            <a:off x="423333" y="5158832"/>
            <a:ext cx="11209867" cy="707886"/>
          </a:xfrm>
          <a:prstGeom prst="rect">
            <a:avLst/>
          </a:prstGeom>
          <a:noFill/>
        </p:spPr>
        <p:txBody>
          <a:bodyPr wrap="square" rtlCol="0">
            <a:spAutoFit/>
          </a:bodyPr>
          <a:lstStyle/>
          <a:p>
            <a:pPr algn="just"/>
            <a:r>
              <a:rPr lang="en-IN" sz="2000" b="1" dirty="0"/>
              <a:t>Insight:</a:t>
            </a:r>
            <a:r>
              <a:rPr lang="en-IN" sz="2000" dirty="0"/>
              <a:t> </a:t>
            </a:r>
            <a:r>
              <a:rPr lang="en-IN" sz="2000" dirty="0">
                <a:latin typeface="Times New Roman" panose="02020603050405020304" pitchFamily="18" charset="0"/>
                <a:cs typeface="Times New Roman" panose="02020603050405020304" pitchFamily="18" charset="0"/>
              </a:rPr>
              <a:t>Most internship listings are for on-site or other locations, while work-from-home opportunities form a smaller share.</a:t>
            </a:r>
          </a:p>
        </p:txBody>
      </p:sp>
    </p:spTree>
    <p:extLst>
      <p:ext uri="{BB962C8B-B14F-4D97-AF65-F5344CB8AC3E}">
        <p14:creationId xmlns:p14="http://schemas.microsoft.com/office/powerpoint/2010/main" val="20637559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A80D84F-D34C-81E5-31C8-AF082F212B79}"/>
              </a:ext>
            </a:extLst>
          </p:cNvPr>
          <p:cNvSpPr txBox="1"/>
          <p:nvPr/>
        </p:nvSpPr>
        <p:spPr>
          <a:xfrm>
            <a:off x="406400" y="321734"/>
            <a:ext cx="3847032" cy="461665"/>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4. Stipend Outlier Analysis</a:t>
            </a:r>
          </a:p>
        </p:txBody>
      </p:sp>
      <p:pic>
        <p:nvPicPr>
          <p:cNvPr id="6" name="Picture 5">
            <a:extLst>
              <a:ext uri="{FF2B5EF4-FFF2-40B4-BE49-F238E27FC236}">
                <a16:creationId xmlns:a16="http://schemas.microsoft.com/office/drawing/2014/main" id="{9FEAF5C8-D94F-021B-4D1F-51A13F422470}"/>
              </a:ext>
            </a:extLst>
          </p:cNvPr>
          <p:cNvPicPr>
            <a:picLocks noChangeAspect="1"/>
          </p:cNvPicPr>
          <p:nvPr/>
        </p:nvPicPr>
        <p:blipFill>
          <a:blip r:embed="rId2"/>
          <a:stretch>
            <a:fillRect/>
          </a:stretch>
        </p:blipFill>
        <p:spPr>
          <a:xfrm>
            <a:off x="1603654" y="948268"/>
            <a:ext cx="6959026" cy="4284133"/>
          </a:xfrm>
          <a:prstGeom prst="rect">
            <a:avLst/>
          </a:prstGeom>
        </p:spPr>
      </p:pic>
      <p:sp>
        <p:nvSpPr>
          <p:cNvPr id="7" name="TextBox 6">
            <a:extLst>
              <a:ext uri="{FF2B5EF4-FFF2-40B4-BE49-F238E27FC236}">
                <a16:creationId xmlns:a16="http://schemas.microsoft.com/office/drawing/2014/main" id="{97B2E98E-2BC8-A64D-1123-6D410D57A897}"/>
              </a:ext>
            </a:extLst>
          </p:cNvPr>
          <p:cNvSpPr txBox="1"/>
          <p:nvPr/>
        </p:nvSpPr>
        <p:spPr>
          <a:xfrm>
            <a:off x="406400" y="5232401"/>
            <a:ext cx="11379200" cy="707886"/>
          </a:xfrm>
          <a:prstGeom prst="rect">
            <a:avLst/>
          </a:prstGeom>
          <a:noFill/>
        </p:spPr>
        <p:txBody>
          <a:bodyPr wrap="square" rtlCol="0">
            <a:spAutoFit/>
          </a:bodyPr>
          <a:lstStyle/>
          <a:p>
            <a:r>
              <a:rPr lang="en-US" sz="2000" b="1" dirty="0"/>
              <a:t>Insight </a:t>
            </a:r>
            <a:r>
              <a:rPr lang="en-US" sz="2000" dirty="0"/>
              <a:t>: </a:t>
            </a:r>
            <a:r>
              <a:rPr lang="en-IN" sz="2000" dirty="0">
                <a:latin typeface="Times New Roman" panose="02020603050405020304" pitchFamily="18" charset="0"/>
                <a:cs typeface="Times New Roman" panose="02020603050405020304" pitchFamily="18" charset="0"/>
              </a:rPr>
              <a:t>“Most internships offer stipends within a common range, while a few internships have unusually high stipend values compared to the others.”</a:t>
            </a:r>
          </a:p>
        </p:txBody>
      </p:sp>
    </p:spTree>
    <p:extLst>
      <p:ext uri="{BB962C8B-B14F-4D97-AF65-F5344CB8AC3E}">
        <p14:creationId xmlns:p14="http://schemas.microsoft.com/office/powerpoint/2010/main" val="27870995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B56C0E9-9F5F-169C-22B1-19BD395A003C}"/>
              </a:ext>
            </a:extLst>
          </p:cNvPr>
          <p:cNvPicPr>
            <a:picLocks noChangeAspect="1"/>
          </p:cNvPicPr>
          <p:nvPr/>
        </p:nvPicPr>
        <p:blipFill>
          <a:blip r:embed="rId2"/>
          <a:stretch>
            <a:fillRect/>
          </a:stretch>
        </p:blipFill>
        <p:spPr>
          <a:xfrm>
            <a:off x="2053319" y="1052732"/>
            <a:ext cx="6616548" cy="4230468"/>
          </a:xfrm>
          <a:prstGeom prst="rect">
            <a:avLst/>
          </a:prstGeom>
        </p:spPr>
      </p:pic>
      <p:sp>
        <p:nvSpPr>
          <p:cNvPr id="5" name="TextBox 4">
            <a:extLst>
              <a:ext uri="{FF2B5EF4-FFF2-40B4-BE49-F238E27FC236}">
                <a16:creationId xmlns:a16="http://schemas.microsoft.com/office/drawing/2014/main" id="{6D803663-00B5-1217-9D53-59A3B47C84A9}"/>
              </a:ext>
            </a:extLst>
          </p:cNvPr>
          <p:cNvSpPr txBox="1"/>
          <p:nvPr/>
        </p:nvSpPr>
        <p:spPr>
          <a:xfrm>
            <a:off x="457200" y="406400"/>
            <a:ext cx="4724400" cy="646331"/>
          </a:xfrm>
          <a:prstGeom prst="rect">
            <a:avLst/>
          </a:prstGeom>
          <a:noFill/>
        </p:spPr>
        <p:txBody>
          <a:bodyPr wrap="square" rtlCol="0">
            <a:spAutoFit/>
          </a:bodyPr>
          <a:lstStyle/>
          <a:p>
            <a:r>
              <a:rPr lang="en-IN" sz="2200" b="1" dirty="0">
                <a:latin typeface="Times New Roman" panose="02020603050405020304" pitchFamily="18" charset="0"/>
                <a:cs typeface="Times New Roman" panose="02020603050405020304" pitchFamily="18" charset="0"/>
              </a:rPr>
              <a:t>5. Stipend vs Internship Duration</a:t>
            </a:r>
          </a:p>
          <a:p>
            <a:endParaRPr lang="en-IN" dirty="0"/>
          </a:p>
        </p:txBody>
      </p:sp>
      <p:sp>
        <p:nvSpPr>
          <p:cNvPr id="6" name="TextBox 5">
            <a:extLst>
              <a:ext uri="{FF2B5EF4-FFF2-40B4-BE49-F238E27FC236}">
                <a16:creationId xmlns:a16="http://schemas.microsoft.com/office/drawing/2014/main" id="{77196D0F-7992-420D-771F-76379E321A13}"/>
              </a:ext>
            </a:extLst>
          </p:cNvPr>
          <p:cNvSpPr txBox="1"/>
          <p:nvPr/>
        </p:nvSpPr>
        <p:spPr>
          <a:xfrm>
            <a:off x="457200" y="5655734"/>
            <a:ext cx="11142133" cy="400110"/>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Insight : </a:t>
            </a:r>
            <a:r>
              <a:rPr lang="en-IN" sz="2000" dirty="0">
                <a:latin typeface="Times New Roman" panose="02020603050405020304" pitchFamily="18" charset="0"/>
                <a:cs typeface="Times New Roman" panose="02020603050405020304" pitchFamily="18" charset="0"/>
              </a:rPr>
              <a:t>Stipend values vary across different internship durations, with no clear direct relationship</a:t>
            </a:r>
            <a:r>
              <a:rPr lang="en-IN" dirty="0"/>
              <a:t>.</a:t>
            </a:r>
          </a:p>
        </p:txBody>
      </p:sp>
    </p:spTree>
    <p:extLst>
      <p:ext uri="{BB962C8B-B14F-4D97-AF65-F5344CB8AC3E}">
        <p14:creationId xmlns:p14="http://schemas.microsoft.com/office/powerpoint/2010/main" val="22214584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9621E20-87E5-38DC-54A3-980B3443960C}"/>
              </a:ext>
            </a:extLst>
          </p:cNvPr>
          <p:cNvSpPr txBox="1"/>
          <p:nvPr/>
        </p:nvSpPr>
        <p:spPr>
          <a:xfrm>
            <a:off x="440268" y="440268"/>
            <a:ext cx="5275218" cy="646331"/>
          </a:xfrm>
          <a:prstGeom prst="rect">
            <a:avLst/>
          </a:prstGeom>
          <a:noFill/>
        </p:spPr>
        <p:txBody>
          <a:bodyPr wrap="square" rtlCol="0">
            <a:spAutoFit/>
          </a:bodyPr>
          <a:lstStyle/>
          <a:p>
            <a:r>
              <a:rPr lang="en-US" sz="2200" b="1" dirty="0">
                <a:latin typeface="Times New Roman" panose="02020603050405020304" pitchFamily="18" charset="0"/>
                <a:cs typeface="Times New Roman" panose="02020603050405020304" pitchFamily="18" charset="0"/>
              </a:rPr>
              <a:t>6. </a:t>
            </a:r>
            <a:r>
              <a:rPr lang="en-IN" sz="2200" b="1" dirty="0">
                <a:latin typeface="Times New Roman" panose="02020603050405020304" pitchFamily="18" charset="0"/>
                <a:cs typeface="Times New Roman" panose="02020603050405020304" pitchFamily="18" charset="0"/>
              </a:rPr>
              <a:t>Top Companies by Internship Listings</a:t>
            </a:r>
          </a:p>
          <a:p>
            <a:endParaRPr lang="en-IN" dirty="0"/>
          </a:p>
        </p:txBody>
      </p:sp>
      <p:pic>
        <p:nvPicPr>
          <p:cNvPr id="5" name="Picture 4">
            <a:extLst>
              <a:ext uri="{FF2B5EF4-FFF2-40B4-BE49-F238E27FC236}">
                <a16:creationId xmlns:a16="http://schemas.microsoft.com/office/drawing/2014/main" id="{5C425C6A-3336-1D5C-43D1-BA26B7DBA4F1}"/>
              </a:ext>
            </a:extLst>
          </p:cNvPr>
          <p:cNvPicPr>
            <a:picLocks noChangeAspect="1"/>
          </p:cNvPicPr>
          <p:nvPr/>
        </p:nvPicPr>
        <p:blipFill>
          <a:blip r:embed="rId2"/>
          <a:stretch>
            <a:fillRect/>
          </a:stretch>
        </p:blipFill>
        <p:spPr>
          <a:xfrm>
            <a:off x="1676400" y="1086599"/>
            <a:ext cx="8331200" cy="4501401"/>
          </a:xfrm>
          <a:prstGeom prst="rect">
            <a:avLst/>
          </a:prstGeom>
        </p:spPr>
      </p:pic>
      <p:sp>
        <p:nvSpPr>
          <p:cNvPr id="6" name="TextBox 5">
            <a:extLst>
              <a:ext uri="{FF2B5EF4-FFF2-40B4-BE49-F238E27FC236}">
                <a16:creationId xmlns:a16="http://schemas.microsoft.com/office/drawing/2014/main" id="{93024833-5134-AB12-463C-CDF9E9B866B0}"/>
              </a:ext>
            </a:extLst>
          </p:cNvPr>
          <p:cNvSpPr txBox="1"/>
          <p:nvPr/>
        </p:nvSpPr>
        <p:spPr>
          <a:xfrm>
            <a:off x="254001" y="5469468"/>
            <a:ext cx="11379200" cy="1015663"/>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Insight :</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ViralChilly</a:t>
            </a:r>
            <a:r>
              <a:rPr lang="en-IN" sz="2000" dirty="0">
                <a:latin typeface="Times New Roman" panose="02020603050405020304" pitchFamily="18" charset="0"/>
                <a:cs typeface="Times New Roman" panose="02020603050405020304" pitchFamily="18" charset="0"/>
              </a:rPr>
              <a:t> has the highest number of internship listings among the top 10 companies, followed by Best Roadways Limited. This indicates that internship opportunities are concentrated more heavily in a few companies within the collected dataset.</a:t>
            </a:r>
          </a:p>
        </p:txBody>
      </p:sp>
    </p:spTree>
    <p:extLst>
      <p:ext uri="{BB962C8B-B14F-4D97-AF65-F5344CB8AC3E}">
        <p14:creationId xmlns:p14="http://schemas.microsoft.com/office/powerpoint/2010/main" val="15456274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A95375E-6512-AB7B-CC79-FA2034883070}"/>
              </a:ext>
            </a:extLst>
          </p:cNvPr>
          <p:cNvPicPr>
            <a:picLocks noChangeAspect="1"/>
          </p:cNvPicPr>
          <p:nvPr/>
        </p:nvPicPr>
        <p:blipFill>
          <a:blip r:embed="rId2"/>
          <a:stretch>
            <a:fillRect/>
          </a:stretch>
        </p:blipFill>
        <p:spPr>
          <a:xfrm>
            <a:off x="1930400" y="880533"/>
            <a:ext cx="7789333" cy="4724400"/>
          </a:xfrm>
          <a:prstGeom prst="rect">
            <a:avLst/>
          </a:prstGeom>
        </p:spPr>
      </p:pic>
      <p:sp>
        <p:nvSpPr>
          <p:cNvPr id="5" name="TextBox 4">
            <a:extLst>
              <a:ext uri="{FF2B5EF4-FFF2-40B4-BE49-F238E27FC236}">
                <a16:creationId xmlns:a16="http://schemas.microsoft.com/office/drawing/2014/main" id="{A2AABC7D-CE67-0125-8DB2-2DE712C20A35}"/>
              </a:ext>
            </a:extLst>
          </p:cNvPr>
          <p:cNvSpPr txBox="1"/>
          <p:nvPr/>
        </p:nvSpPr>
        <p:spPr>
          <a:xfrm>
            <a:off x="423334" y="372534"/>
            <a:ext cx="4636524" cy="430887"/>
          </a:xfrm>
          <a:prstGeom prst="rect">
            <a:avLst/>
          </a:prstGeom>
          <a:noFill/>
        </p:spPr>
        <p:txBody>
          <a:bodyPr wrap="square" rtlCol="0">
            <a:spAutoFit/>
          </a:bodyPr>
          <a:lstStyle/>
          <a:p>
            <a:r>
              <a:rPr lang="en-IN" sz="2200" b="1" dirty="0">
                <a:latin typeface="Times New Roman" panose="02020603050405020304" pitchFamily="18" charset="0"/>
                <a:cs typeface="Times New Roman" panose="02020603050405020304" pitchFamily="18" charset="0"/>
              </a:rPr>
              <a:t>7. Internship Duration Distribution</a:t>
            </a:r>
          </a:p>
        </p:txBody>
      </p:sp>
      <p:sp>
        <p:nvSpPr>
          <p:cNvPr id="6" name="TextBox 5">
            <a:extLst>
              <a:ext uri="{FF2B5EF4-FFF2-40B4-BE49-F238E27FC236}">
                <a16:creationId xmlns:a16="http://schemas.microsoft.com/office/drawing/2014/main" id="{62F07D60-DABF-EDD0-EFFD-F06424B3D115}"/>
              </a:ext>
            </a:extLst>
          </p:cNvPr>
          <p:cNvSpPr txBox="1"/>
          <p:nvPr/>
        </p:nvSpPr>
        <p:spPr>
          <a:xfrm>
            <a:off x="643467" y="5808133"/>
            <a:ext cx="10907153" cy="400110"/>
          </a:xfrm>
          <a:prstGeom prst="rect">
            <a:avLst/>
          </a:prstGeom>
          <a:noFill/>
        </p:spPr>
        <p:txBody>
          <a:bodyPr wrap="none" rtlCol="0">
            <a:spAutoFit/>
          </a:bodyPr>
          <a:lstStyle/>
          <a:p>
            <a:r>
              <a:rPr lang="en-IN" dirty="0"/>
              <a:t> </a:t>
            </a:r>
            <a:r>
              <a:rPr lang="en-IN" sz="2000" b="1" dirty="0">
                <a:latin typeface="Times New Roman" panose="02020603050405020304" pitchFamily="18" charset="0"/>
                <a:cs typeface="Times New Roman" panose="02020603050405020304" pitchFamily="18" charset="0"/>
              </a:rPr>
              <a:t>Insight : </a:t>
            </a:r>
            <a:r>
              <a:rPr lang="en-IN" sz="2000" dirty="0">
                <a:latin typeface="Times New Roman" panose="02020603050405020304" pitchFamily="18" charset="0"/>
                <a:cs typeface="Times New Roman" panose="02020603050405020304" pitchFamily="18" charset="0"/>
              </a:rPr>
              <a:t>Most internships are concentrated around a few common durations, especially 3 and 6 months</a:t>
            </a:r>
            <a:r>
              <a:rPr lang="en-IN" sz="2000" b="1"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7326406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3070AC9-B860-5F2A-ED72-8782589FCABF}"/>
              </a:ext>
            </a:extLst>
          </p:cNvPr>
          <p:cNvSpPr txBox="1"/>
          <p:nvPr/>
        </p:nvSpPr>
        <p:spPr>
          <a:xfrm>
            <a:off x="609599" y="474133"/>
            <a:ext cx="3928533" cy="646331"/>
          </a:xfrm>
          <a:prstGeom prst="rect">
            <a:avLst/>
          </a:prstGeom>
          <a:noFill/>
        </p:spPr>
        <p:txBody>
          <a:bodyPr wrap="square" rtlCol="0">
            <a:spAutoFit/>
          </a:bodyPr>
          <a:lstStyle/>
          <a:p>
            <a:r>
              <a:rPr lang="en-US" sz="2200" b="1" dirty="0">
                <a:latin typeface="Times New Roman" panose="02020603050405020304" pitchFamily="18" charset="0"/>
                <a:cs typeface="Times New Roman" panose="02020603050405020304" pitchFamily="18" charset="0"/>
              </a:rPr>
              <a:t>8. </a:t>
            </a:r>
            <a:r>
              <a:rPr lang="en-IN" sz="2200" b="1" dirty="0">
                <a:latin typeface="Times New Roman" panose="02020603050405020304" pitchFamily="18" charset="0"/>
                <a:cs typeface="Times New Roman" panose="02020603050405020304" pitchFamily="18" charset="0"/>
              </a:rPr>
              <a:t>Company vs Stipend</a:t>
            </a:r>
            <a:r>
              <a:rPr lang="en-IN" sz="2200" b="1" dirty="0">
                <a:latin typeface="Times New Roman" panose="02020603050405020304" pitchFamily="18" charset="0"/>
                <a:cs typeface="Times New Roman" panose="02020603050405020304" pitchFamily="18" charset="0"/>
                <a:hlinkClick r:id="rId3"/>
              </a:rPr>
              <a:t>¶</a:t>
            </a:r>
            <a:endParaRPr lang="en-IN" sz="2200" b="1" dirty="0">
              <a:latin typeface="Times New Roman" panose="02020603050405020304" pitchFamily="18" charset="0"/>
              <a:cs typeface="Times New Roman" panose="02020603050405020304" pitchFamily="18" charset="0"/>
            </a:endParaRPr>
          </a:p>
          <a:p>
            <a:endParaRPr lang="en-IN" dirty="0"/>
          </a:p>
        </p:txBody>
      </p:sp>
      <p:sp>
        <p:nvSpPr>
          <p:cNvPr id="7" name="TextBox 6">
            <a:extLst>
              <a:ext uri="{FF2B5EF4-FFF2-40B4-BE49-F238E27FC236}">
                <a16:creationId xmlns:a16="http://schemas.microsoft.com/office/drawing/2014/main" id="{C53B7B29-2063-16DC-0839-459EA5FBC9BC}"/>
              </a:ext>
            </a:extLst>
          </p:cNvPr>
          <p:cNvSpPr txBox="1"/>
          <p:nvPr/>
        </p:nvSpPr>
        <p:spPr>
          <a:xfrm>
            <a:off x="530694" y="5613550"/>
            <a:ext cx="11413067" cy="646331"/>
          </a:xfrm>
          <a:prstGeom prst="rect">
            <a:avLst/>
          </a:prstGeom>
          <a:noFill/>
        </p:spPr>
        <p:txBody>
          <a:bodyPr wrap="square" rtlCol="0">
            <a:spAutoFit/>
          </a:bodyPr>
          <a:lstStyle/>
          <a:p>
            <a:pPr algn="just"/>
            <a:r>
              <a:rPr lang="en-US" sz="1800" b="1" dirty="0">
                <a:latin typeface="Times New Roman" panose="02020603050405020304" pitchFamily="18" charset="0"/>
                <a:cs typeface="Times New Roman" panose="02020603050405020304" pitchFamily="18" charset="0"/>
              </a:rPr>
              <a:t>Insights:</a:t>
            </a:r>
            <a:r>
              <a:rPr lang="en-IN" sz="1800" dirty="0">
                <a:latin typeface="Times New Roman" panose="02020603050405020304" pitchFamily="18" charset="0"/>
                <a:cs typeface="Times New Roman" panose="02020603050405020304" pitchFamily="18" charset="0"/>
              </a:rPr>
              <a:t>The average stipend varies across companies, showing that internship compensation is not the same everywhere. This helps applicants compare stipend offerings and shortlist opportunities based on their preferences and expectations.</a:t>
            </a:r>
            <a:endParaRPr lang="en-IN" sz="1800" b="1"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9ED998CD-3232-D472-D2CF-498F1DCC5728}"/>
              </a:ext>
            </a:extLst>
          </p:cNvPr>
          <p:cNvPicPr>
            <a:picLocks noChangeAspect="1"/>
          </p:cNvPicPr>
          <p:nvPr/>
        </p:nvPicPr>
        <p:blipFill>
          <a:blip r:embed="rId4"/>
          <a:stretch>
            <a:fillRect/>
          </a:stretch>
        </p:blipFill>
        <p:spPr>
          <a:xfrm>
            <a:off x="1080650" y="1018095"/>
            <a:ext cx="8291278" cy="4472293"/>
          </a:xfrm>
          <a:prstGeom prst="rect">
            <a:avLst/>
          </a:prstGeom>
        </p:spPr>
      </p:pic>
    </p:spTree>
    <p:extLst>
      <p:ext uri="{BB962C8B-B14F-4D97-AF65-F5344CB8AC3E}">
        <p14:creationId xmlns:p14="http://schemas.microsoft.com/office/powerpoint/2010/main" val="29661267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84E9268-92E3-4998-D377-143214E14D64}"/>
              </a:ext>
            </a:extLst>
          </p:cNvPr>
          <p:cNvSpPr txBox="1"/>
          <p:nvPr/>
        </p:nvSpPr>
        <p:spPr>
          <a:xfrm>
            <a:off x="440267" y="457201"/>
            <a:ext cx="6197600" cy="523220"/>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Future Enhancements :</a:t>
            </a:r>
            <a:endParaRPr lang="en-IN" sz="2800" b="1"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1F07CFC9-631E-4187-872D-785DF1E72AD3}"/>
              </a:ext>
            </a:extLst>
          </p:cNvPr>
          <p:cNvSpPr txBox="1"/>
          <p:nvPr/>
        </p:nvSpPr>
        <p:spPr>
          <a:xfrm>
            <a:off x="558800" y="1286933"/>
            <a:ext cx="10955867" cy="3785652"/>
          </a:xfrm>
          <a:prstGeom prst="rect">
            <a:avLst/>
          </a:prstGeom>
          <a:noFill/>
        </p:spPr>
        <p:txBody>
          <a:bodyPr wrap="square" rtlCol="0">
            <a:spAutoFit/>
          </a:bodyPr>
          <a:lstStyle/>
          <a:p>
            <a:pPr lvl="0" algn="just"/>
            <a:r>
              <a:rPr lang="en-IN" sz="2400" b="1" dirty="0">
                <a:latin typeface="Times New Roman" panose="02020603050405020304" pitchFamily="18" charset="0"/>
                <a:cs typeface="Times New Roman" panose="02020603050405020304" pitchFamily="18" charset="0"/>
              </a:rPr>
              <a:t>Stipend Prediction:</a:t>
            </a:r>
            <a:r>
              <a:rPr lang="en-IN" sz="2400" dirty="0">
                <a:latin typeface="Times New Roman" panose="02020603050405020304" pitchFamily="18" charset="0"/>
                <a:cs typeface="Times New Roman" panose="02020603050405020304" pitchFamily="18" charset="0"/>
              </a:rPr>
              <a:t> Use Machine Learning to predict internship stipends based on available data.</a:t>
            </a:r>
          </a:p>
          <a:p>
            <a:pPr lvl="0" algn="just"/>
            <a:r>
              <a:rPr lang="en-IN" sz="2400" b="1" dirty="0">
                <a:latin typeface="Times New Roman" panose="02020603050405020304" pitchFamily="18" charset="0"/>
                <a:cs typeface="Times New Roman" panose="02020603050405020304" pitchFamily="18" charset="0"/>
              </a:rPr>
              <a:t>AI-Based Recommendations:</a:t>
            </a:r>
            <a:r>
              <a:rPr lang="en-IN" sz="2400" dirty="0">
                <a:latin typeface="Times New Roman" panose="02020603050405020304" pitchFamily="18" charset="0"/>
                <a:cs typeface="Times New Roman" panose="02020603050405020304" pitchFamily="18" charset="0"/>
              </a:rPr>
              <a:t> Suggest suitable internships based on students’ skills and interests.</a:t>
            </a:r>
          </a:p>
          <a:p>
            <a:pPr lvl="0" algn="just"/>
            <a:r>
              <a:rPr lang="en-IN" sz="2400" b="1" dirty="0">
                <a:latin typeface="Times New Roman" panose="02020603050405020304" pitchFamily="18" charset="0"/>
                <a:cs typeface="Times New Roman" panose="02020603050405020304" pitchFamily="18" charset="0"/>
              </a:rPr>
              <a:t>Skill Prediction:</a:t>
            </a:r>
            <a:r>
              <a:rPr lang="en-IN" sz="2400" dirty="0">
                <a:latin typeface="Times New Roman" panose="02020603050405020304" pitchFamily="18" charset="0"/>
                <a:cs typeface="Times New Roman" panose="02020603050405020304" pitchFamily="18" charset="0"/>
              </a:rPr>
              <a:t> Use Machine Learning to identify skills that may be in demand in the future.</a:t>
            </a:r>
          </a:p>
          <a:p>
            <a:pPr lvl="0" algn="just"/>
            <a:r>
              <a:rPr lang="en-IN" sz="2400" b="1" dirty="0">
                <a:latin typeface="Times New Roman" panose="02020603050405020304" pitchFamily="18" charset="0"/>
                <a:cs typeface="Times New Roman" panose="02020603050405020304" pitchFamily="18" charset="0"/>
              </a:rPr>
              <a:t>AI-Based Search:</a:t>
            </a:r>
            <a:r>
              <a:rPr lang="en-IN" sz="2400" dirty="0">
                <a:latin typeface="Times New Roman" panose="02020603050405020304" pitchFamily="18" charset="0"/>
                <a:cs typeface="Times New Roman" panose="02020603050405020304" pitchFamily="18" charset="0"/>
              </a:rPr>
              <a:t> Help students find relevant internships using their preferred skills, location, and stipend.</a:t>
            </a:r>
          </a:p>
          <a:p>
            <a:pPr lvl="0" algn="just"/>
            <a:r>
              <a:rPr lang="en-IN" sz="2400" b="1" dirty="0">
                <a:latin typeface="Times New Roman" panose="02020603050405020304" pitchFamily="18" charset="0"/>
                <a:cs typeface="Times New Roman" panose="02020603050405020304" pitchFamily="18" charset="0"/>
              </a:rPr>
              <a:t>5. Power BI Dashboard:</a:t>
            </a:r>
            <a:r>
              <a:rPr lang="en-IN" sz="2400" dirty="0">
                <a:latin typeface="Times New Roman" panose="02020603050405020304" pitchFamily="18" charset="0"/>
                <a:cs typeface="Times New Roman" panose="02020603050405020304" pitchFamily="18" charset="0"/>
              </a:rPr>
              <a:t> Develop an interactive Power BI dashboard to visualize internship trends, compare stipends, </a:t>
            </a:r>
            <a:r>
              <a:rPr lang="en-IN" sz="2400" dirty="0" err="1">
                <a:latin typeface="Times New Roman" panose="02020603050405020304" pitchFamily="18" charset="0"/>
                <a:cs typeface="Times New Roman" panose="02020603050405020304" pitchFamily="18" charset="0"/>
              </a:rPr>
              <a:t>analyze</a:t>
            </a:r>
            <a:r>
              <a:rPr lang="en-IN" sz="2400" dirty="0">
                <a:latin typeface="Times New Roman" panose="02020603050405020304" pitchFamily="18" charset="0"/>
                <a:cs typeface="Times New Roman" panose="02020603050405020304" pitchFamily="18" charset="0"/>
              </a:rPr>
              <a:t> locations, and explore in-demand skills.</a:t>
            </a:r>
          </a:p>
        </p:txBody>
      </p:sp>
    </p:spTree>
    <p:extLst>
      <p:ext uri="{BB962C8B-B14F-4D97-AF65-F5344CB8AC3E}">
        <p14:creationId xmlns:p14="http://schemas.microsoft.com/office/powerpoint/2010/main" val="36531385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0BAB7EC-BDDF-FDDD-AD83-4D2E5898826E}"/>
              </a:ext>
            </a:extLst>
          </p:cNvPr>
          <p:cNvSpPr txBox="1"/>
          <p:nvPr/>
        </p:nvSpPr>
        <p:spPr>
          <a:xfrm>
            <a:off x="546754" y="1300899"/>
            <a:ext cx="11199043" cy="3019754"/>
          </a:xfrm>
          <a:prstGeom prst="rect">
            <a:avLst/>
          </a:prstGeom>
          <a:noFill/>
        </p:spPr>
        <p:txBody>
          <a:bodyPr wrap="square" rtlCol="0">
            <a:spAutoFit/>
          </a:bodyPr>
          <a:lstStyle/>
          <a:p>
            <a:pPr algn="just"/>
            <a:r>
              <a:rPr lang="en-US" sz="2400" dirty="0">
                <a:latin typeface="Times New Roman" panose="02020603050405020304" pitchFamily="18" charset="0"/>
                <a:cs typeface="Times New Roman" panose="02020603050405020304" pitchFamily="18" charset="0"/>
              </a:rPr>
              <a:t>This project helped me understand how web scraping and data analytics can be applied to a real-world problem. I worked through different stages, starting with data collection and preparation, followed by exploratory analysis, visualization, and statistical testing. Through the charts, I explored patterns in internship locations, skills, durations, companies, and stipends. </a:t>
            </a:r>
            <a:r>
              <a:rPr lang="en-IN" sz="2400" dirty="0">
                <a:latin typeface="Times New Roman" panose="02020603050405020304" pitchFamily="18" charset="0"/>
                <a:cs typeface="Times New Roman" panose="02020603050405020304" pitchFamily="18" charset="0"/>
              </a:rPr>
              <a:t>Overall, the project shows how web scraping and data analytics can turn raw internship data into useful insights, making it easier to understand internship opportunities and the skills expected from candidates.</a:t>
            </a:r>
          </a:p>
          <a:p>
            <a:pPr lvl="0"/>
            <a:endParaRPr lang="en-IN" sz="24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DF247495-6C0B-A977-91DE-302F7B53352A}"/>
              </a:ext>
            </a:extLst>
          </p:cNvPr>
          <p:cNvSpPr txBox="1"/>
          <p:nvPr/>
        </p:nvSpPr>
        <p:spPr>
          <a:xfrm>
            <a:off x="650450" y="521781"/>
            <a:ext cx="3968684" cy="646331"/>
          </a:xfrm>
          <a:prstGeom prst="rect">
            <a:avLst/>
          </a:prstGeom>
          <a:noFill/>
        </p:spPr>
        <p:txBody>
          <a:bodyPr wrap="square" rtlCol="0">
            <a:spAutoFit/>
          </a:bodyPr>
          <a:lstStyle/>
          <a:p>
            <a:r>
              <a:rPr lang="en-US" sz="3600" b="1" dirty="0">
                <a:latin typeface="Times New Roman" panose="02020603050405020304" pitchFamily="18" charset="0"/>
                <a:cs typeface="Times New Roman" panose="02020603050405020304" pitchFamily="18" charset="0"/>
              </a:rPr>
              <a:t>Conclusion:</a:t>
            </a:r>
            <a:endParaRPr lang="en-IN" sz="3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337414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9962212-66B6-54D8-81AF-918EFEF1ECB6}"/>
              </a:ext>
            </a:extLst>
          </p:cNvPr>
          <p:cNvPicPr>
            <a:picLocks noChangeAspect="1"/>
          </p:cNvPicPr>
          <p:nvPr/>
        </p:nvPicPr>
        <p:blipFill>
          <a:blip r:embed="rId2"/>
          <a:stretch>
            <a:fillRect/>
          </a:stretch>
        </p:blipFill>
        <p:spPr>
          <a:xfrm>
            <a:off x="1927122" y="353960"/>
            <a:ext cx="7482349" cy="5611762"/>
          </a:xfrm>
          <a:prstGeom prst="rect">
            <a:avLst/>
          </a:prstGeom>
        </p:spPr>
      </p:pic>
    </p:spTree>
    <p:extLst>
      <p:ext uri="{BB962C8B-B14F-4D97-AF65-F5344CB8AC3E}">
        <p14:creationId xmlns:p14="http://schemas.microsoft.com/office/powerpoint/2010/main" val="6937625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3">
            <a:alphaModFix/>
          </a:blip>
          <a:srcRect/>
          <a:stretch/>
        </p:blipFill>
        <p:spPr>
          <a:xfrm>
            <a:off x="6466516" y="1850749"/>
            <a:ext cx="4465643" cy="2834317"/>
          </a:xfrm>
          <a:prstGeom prst="rect">
            <a:avLst/>
          </a:prstGeom>
          <a:noFill/>
          <a:ln>
            <a:noFill/>
          </a:ln>
        </p:spPr>
      </p:pic>
      <p:sp>
        <p:nvSpPr>
          <p:cNvPr id="117" name="Google Shape;117;p5"/>
          <p:cNvSpPr txBox="1"/>
          <p:nvPr/>
        </p:nvSpPr>
        <p:spPr>
          <a:xfrm>
            <a:off x="1244600" y="2997200"/>
            <a:ext cx="3661836" cy="76944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C00000"/>
              </a:buClr>
              <a:buSzPts val="4400"/>
              <a:buFont typeface="Libre Baskerville"/>
              <a:buNone/>
            </a:pPr>
            <a:r>
              <a:rPr lang="en-IN" sz="4400" b="0" i="0" u="none" strike="noStrike" cap="none">
                <a:solidFill>
                  <a:srgbClr val="C00000"/>
                </a:solidFill>
                <a:latin typeface="Libre Baskerville"/>
                <a:ea typeface="Libre Baskerville"/>
                <a:cs typeface="Libre Baskerville"/>
                <a:sym typeface="Libre Baskerville"/>
              </a:rPr>
              <a:t>THANK YOU</a:t>
            </a: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2448</TotalTime>
  <Words>1179</Words>
  <Application>Microsoft Office PowerPoint</Application>
  <PresentationFormat>Widescreen</PresentationFormat>
  <Paragraphs>91</Paragraphs>
  <Slides>23</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Times New Roman</vt:lpstr>
      <vt:lpstr>Calibri</vt:lpstr>
      <vt:lpstr>Lato Black</vt:lpstr>
      <vt:lpstr>Libre Baskerville</vt:lpstr>
      <vt:lpstr>Arial</vt:lpstr>
      <vt:lpstr>Office Theme</vt:lpstr>
      <vt:lpstr>PowerPoint Presentation</vt:lpstr>
      <vt:lpstr>PowerPoint Presentation</vt:lpstr>
      <vt:lpstr>   Agenda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Raghu Ram Aduri</dc:creator>
  <cp:lastModifiedBy>Bhavna Reddy</cp:lastModifiedBy>
  <cp:revision>29</cp:revision>
  <dcterms:created xsi:type="dcterms:W3CDTF">2021-02-16T05:19:01Z</dcterms:created>
  <dcterms:modified xsi:type="dcterms:W3CDTF">2026-10-10T08:14:57Z</dcterms:modified>
</cp:coreProperties>
</file>